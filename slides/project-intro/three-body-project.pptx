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7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5ED5-3324-22CF-BB0A-8026981EB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E8F6C-F313-9945-20C4-C2DCB4F62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6D600-EC2F-59C1-F123-588ED200A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32FB1-0B80-4D72-A752-B493B8B302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D1586-9AC1-7E19-C611-EE84338CD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215B8-B558-5FC6-DBBD-4FE5414B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D0F-0092-4BD0-901B-321AE744F6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891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56DE2-AF6F-C7FE-DF49-6F8B8DFC5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C3A0F-E1E4-F6BC-E0AE-65973B586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9F5FA-7812-C790-78A1-69BDF3304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32FB1-0B80-4D72-A752-B493B8B302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C61D8-4A08-EA34-4145-20A0FFBD7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B5239-A55D-3012-729D-D289F28E1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D0F-0092-4BD0-901B-321AE744F6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43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840BE-BF94-E31F-820D-5E3661C93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9E108-58F1-4D4F-60B2-29D526667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D16AD-304E-EAA4-E91F-5834A0E60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32FB1-0B80-4D72-A752-B493B8B302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ACC47-F975-35C8-34DA-7D828F3B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AB61D-93A6-1BC6-CB36-0BB9B7EBC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D0F-0092-4BD0-901B-321AE744F6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324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F4BEA-7368-B8CE-04F9-CFADF223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A5B2C-30E2-906F-8A9C-F18049FB73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BCF7F6-FCC0-2731-68F3-9F52AB0C2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6C142-B7FA-E0B3-5B3F-04B56B312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32FB1-0B80-4D72-A752-B493B8B302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90742-EEA6-0402-FF51-9CB7B0A8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4A303-6B33-0553-3987-2DB0429EB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D0F-0092-4BD0-901B-321AE744F6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858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6FDFA-6815-1CB9-B439-444AFC744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D9258-440E-5AD9-5DA5-4E777DE78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B9FDA-BA63-4169-0B3E-5B3345F6B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80874A-86FB-6ABB-D5C1-CD30455A0E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3C2DEF-00B6-0EDD-5A1C-7CB4A36194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334E9A-9A2F-0FFD-FA7A-2F96D7F00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32FB1-0B80-4D72-A752-B493B8B302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9C75C5-AE5C-B8F9-343E-A8FC5CC9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5E6065-2124-E11B-9A4D-2731B1790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D0F-0092-4BD0-901B-321AE744F6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48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20FA8-7771-0FA1-2275-641776708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D2118B-F5A0-02EF-54EE-A97CA39BF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32FB1-0B80-4D72-A752-B493B8B302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8B1F56-5D85-B95A-C6AB-D63CAA36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2A5113-027D-1E5D-A808-50EEAD8B7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D0F-0092-4BD0-901B-321AE744F6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829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5B83EA-6F2A-80C2-A221-EEE4A8B74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32FB1-0B80-4D72-A752-B493B8B302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1EAFF-F5E4-A84D-3A47-80EC4A3F6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FEA99-994F-8944-207A-BE66F8B99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D0F-0092-4BD0-901B-321AE744F6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38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78C02-B458-DC4D-FC3F-E0A13756C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4A20C-76BD-2220-5241-D9C085318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C64C5-C835-C249-7181-52A0F803E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8E51A-EA9B-3795-9442-9B94F3447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32FB1-0B80-4D72-A752-B493B8B302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87338-6057-0CF1-85AA-422F63560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05715-31D8-E2B6-DBF1-86BF50AE6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D0F-0092-4BD0-901B-321AE744F6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710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8182C-93BC-AA48-B096-426626DB2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B9F64E-951F-7490-A885-08A2C255FD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92030-B781-0D7E-FF68-55F68628A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2E4F1-920E-DE82-6E89-EDF39E43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32FB1-0B80-4D72-A752-B493B8B302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AAAAE-9C89-3563-8CB7-77FE5DDE2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E00CA-A77E-BE17-EC66-C45FD0B6E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D0F-0092-4BD0-901B-321AE744F6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418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92C90-4606-F1D8-3EA2-9B9EE4BCB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570B10-046B-4C60-562C-FA0D37004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00637-53FD-2803-703C-03CFD0AD2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32FB1-0B80-4D72-A752-B493B8B302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CDC12-370E-0B90-F719-ADA65D12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87F27-843A-84A3-515E-5EBA6FDB4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D0F-0092-4BD0-901B-321AE744F6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506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07E2B7-D0B2-EC03-A63C-74719BDBE5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252BED-9DAA-7D12-DA41-9A8F4D941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10368-9A76-EF67-840E-95F685DF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32FB1-0B80-4D72-A752-B493B8B302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88EF1-C55A-7E09-ECE7-6D5D1AFD5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5E00F-331A-1431-6F25-86F643E9E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D0F-0092-4BD0-901B-321AE744F6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560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AC4D5-265F-73C4-FB89-8E0012121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06BA3-7FA8-26AE-AE35-285B99B4B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3DC51-7745-C23E-4D3C-465938F22D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32FB1-0B80-4D72-A752-B493B8B302BA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14BE1-D1E0-6E55-9C0E-37FC1C2913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7B591-8DFC-69E4-5323-3220A113A6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44D0F-0092-4BD0-901B-321AE744F6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164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wHOtb31VOGM" TargetMode="External"/><Relationship Id="rId2" Type="http://schemas.openxmlformats.org/officeDocument/2006/relationships/hyperlink" Target="https://youtu.be/oRf81m0zX6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26AA20-0574-5088-DBF8-328FD5E8249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611019-1DCD-2559-4CC6-3A8859B509A9}"/>
              </a:ext>
            </a:extLst>
          </p:cNvPr>
          <p:cNvSpPr txBox="1"/>
          <p:nvPr/>
        </p:nvSpPr>
        <p:spPr>
          <a:xfrm>
            <a:off x="502920" y="310896"/>
            <a:ext cx="566928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F1F3F5"/>
                </a:solidFill>
                <a:latin typeface="Aptos" panose="020B0004020202020204" pitchFamily="34" charset="0"/>
              </a:rPr>
              <a:t>FINAL PROJECT</a:t>
            </a:r>
            <a:endParaRPr lang="zh-CN" altLang="en-US" sz="800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418388-F296-0852-54BA-5036C83CDA6A}"/>
              </a:ext>
            </a:extLst>
          </p:cNvPr>
          <p:cNvSpPr txBox="1"/>
          <p:nvPr/>
        </p:nvSpPr>
        <p:spPr>
          <a:xfrm>
            <a:off x="10652760" y="310896"/>
            <a:ext cx="100584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F1F3F5"/>
                </a:solidFill>
                <a:latin typeface="Aptos" panose="020B0004020202020204" pitchFamily="34" charset="0"/>
              </a:rPr>
              <a:t>01 / 08</a:t>
            </a:r>
            <a:endParaRPr lang="zh-CN" altLang="en-US" sz="800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795A64-8FFA-2C76-8827-FA0542A5D8AB}"/>
              </a:ext>
            </a:extLst>
          </p:cNvPr>
          <p:cNvSpPr/>
          <p:nvPr/>
        </p:nvSpPr>
        <p:spPr>
          <a:xfrm>
            <a:off x="530352" y="6364224"/>
            <a:ext cx="1097280" cy="27432"/>
          </a:xfrm>
          <a:prstGeom prst="rect">
            <a:avLst/>
          </a:prstGeom>
          <a:solidFill>
            <a:srgbClr val="56CF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50C897-5A6A-F662-3FFA-C06F85FDBA27}"/>
              </a:ext>
            </a:extLst>
          </p:cNvPr>
          <p:cNvSpPr txBox="1"/>
          <p:nvPr/>
        </p:nvSpPr>
        <p:spPr>
          <a:xfrm>
            <a:off x="1783080" y="6236208"/>
            <a:ext cx="585216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F1F3F5"/>
                </a:solidFill>
                <a:latin typeface="Aptos" panose="020B0004020202020204" pitchFamily="34" charset="0"/>
              </a:rPr>
              <a:t>Interactive reading - ideology deck</a:t>
            </a:r>
            <a:endParaRPr lang="zh-CN" altLang="en-US" sz="800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7DEEED-D6A2-3F22-27B4-A84954D02A96}"/>
              </a:ext>
            </a:extLst>
          </p:cNvPr>
          <p:cNvSpPr txBox="1"/>
          <p:nvPr/>
        </p:nvSpPr>
        <p:spPr>
          <a:xfrm>
            <a:off x="658368" y="1170432"/>
            <a:ext cx="768096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800" b="1">
                <a:solidFill>
                  <a:srgbClr val="F1F3F5"/>
                </a:solidFill>
                <a:latin typeface="Georgia" panose="02040502050405020303" pitchFamily="18" charset="0"/>
              </a:rPr>
              <a:t>Three-Body
Interactive Platform</a:t>
            </a:r>
            <a:endParaRPr lang="zh-CN" altLang="en-US" sz="3800" b="1">
              <a:solidFill>
                <a:srgbClr val="F1F3F5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332B8-1DB7-3AFE-7B7F-9484A2ACE7ED}"/>
              </a:ext>
            </a:extLst>
          </p:cNvPr>
          <p:cNvSpPr txBox="1"/>
          <p:nvPr/>
        </p:nvSpPr>
        <p:spPr>
          <a:xfrm>
            <a:off x="713232" y="2852928"/>
            <a:ext cx="6675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i="1">
                <a:solidFill>
                  <a:srgbClr val="56CFE1"/>
                </a:solidFill>
                <a:latin typeface="Georgia" panose="02040502050405020303" pitchFamily="18" charset="0"/>
              </a:rPr>
              <a:t>Dialogue with memory, ideology, and consequence.</a:t>
            </a:r>
            <a:endParaRPr lang="zh-CN" altLang="en-US" i="1">
              <a:solidFill>
                <a:srgbClr val="56CFE1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DD04EE-868C-4609-6866-5A1BAA517753}"/>
              </a:ext>
            </a:extLst>
          </p:cNvPr>
          <p:cNvSpPr txBox="1"/>
          <p:nvPr/>
        </p:nvSpPr>
        <p:spPr>
          <a:xfrm>
            <a:off x="749808" y="3703320"/>
            <a:ext cx="630936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dirty="0">
                <a:solidFill>
                  <a:srgbClr val="E4E8EC"/>
                </a:solidFill>
                <a:latin typeface="Aptos" panose="020B0004020202020204" pitchFamily="34" charset="0"/>
              </a:rPr>
              <a:t>A Book I narrative interface where four Claude personas remember the same player and steer toward different endgames.</a:t>
            </a:r>
            <a:endParaRPr lang="zh-CN" altLang="en-US" sz="1500" dirty="0">
              <a:solidFill>
                <a:srgbClr val="E4E8EC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8594DC-12A8-F7A4-6D29-1FFBCF8670B8}"/>
              </a:ext>
            </a:extLst>
          </p:cNvPr>
          <p:cNvSpPr/>
          <p:nvPr/>
        </p:nvSpPr>
        <p:spPr>
          <a:xfrm>
            <a:off x="7726680" y="1051560"/>
            <a:ext cx="3474720" cy="658368"/>
          </a:xfrm>
          <a:prstGeom prst="rect">
            <a:avLst/>
          </a:prstGeom>
          <a:solidFill>
            <a:srgbClr val="152A4A"/>
          </a:solidFill>
          <a:ln w="12700">
            <a:solidFill>
              <a:srgbClr val="56CF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8CD45F-6FE1-F82B-F43E-FF444A5704C1}"/>
              </a:ext>
            </a:extLst>
          </p:cNvPr>
          <p:cNvSpPr txBox="1"/>
          <p:nvPr/>
        </p:nvSpPr>
        <p:spPr>
          <a:xfrm>
            <a:off x="8001000" y="1225296"/>
            <a:ext cx="256032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F1F3F5"/>
                </a:solidFill>
                <a:latin typeface="Aptos" panose="020B0004020202020204" pitchFamily="34" charset="0"/>
              </a:rPr>
              <a:t>MEMORY</a:t>
            </a:r>
            <a:endParaRPr lang="zh-CN" altLang="en-US" sz="1300" b="1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40A3F2-43CE-EA3E-77A6-E33894439AEB}"/>
              </a:ext>
            </a:extLst>
          </p:cNvPr>
          <p:cNvSpPr/>
          <p:nvPr/>
        </p:nvSpPr>
        <p:spPr>
          <a:xfrm>
            <a:off x="7726680" y="2130552"/>
            <a:ext cx="3474720" cy="658368"/>
          </a:xfrm>
          <a:prstGeom prst="rect">
            <a:avLst/>
          </a:prstGeom>
          <a:solidFill>
            <a:srgbClr val="152A4A"/>
          </a:solidFill>
          <a:ln w="12700">
            <a:solidFill>
              <a:srgbClr val="F2C1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189A41-AD41-194F-6601-0CDC5A31D6FD}"/>
              </a:ext>
            </a:extLst>
          </p:cNvPr>
          <p:cNvSpPr txBox="1"/>
          <p:nvPr/>
        </p:nvSpPr>
        <p:spPr>
          <a:xfrm>
            <a:off x="8001000" y="2304288"/>
            <a:ext cx="256032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F1F3F5"/>
                </a:solidFill>
                <a:latin typeface="Aptos" panose="020B0004020202020204" pitchFamily="34" charset="0"/>
              </a:rPr>
              <a:t>TIMELINE</a:t>
            </a:r>
            <a:endParaRPr lang="zh-CN" altLang="en-US" sz="1300" b="1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003CDF-7987-EA11-FFE1-42EDCE7D32E4}"/>
              </a:ext>
            </a:extLst>
          </p:cNvPr>
          <p:cNvSpPr/>
          <p:nvPr/>
        </p:nvSpPr>
        <p:spPr>
          <a:xfrm>
            <a:off x="7726680" y="3209544"/>
            <a:ext cx="3474720" cy="658368"/>
          </a:xfrm>
          <a:prstGeom prst="rect">
            <a:avLst/>
          </a:prstGeom>
          <a:solidFill>
            <a:srgbClr val="152A4A"/>
          </a:solidFill>
          <a:ln w="12700">
            <a:solidFill>
              <a:srgbClr val="D96C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7AE027-21F7-A02C-AF0B-19D2C815DC4C}"/>
              </a:ext>
            </a:extLst>
          </p:cNvPr>
          <p:cNvSpPr txBox="1"/>
          <p:nvPr/>
        </p:nvSpPr>
        <p:spPr>
          <a:xfrm>
            <a:off x="8001000" y="3383280"/>
            <a:ext cx="256032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F1F3F5"/>
                </a:solidFill>
                <a:latin typeface="Aptos" panose="020B0004020202020204" pitchFamily="34" charset="0"/>
              </a:rPr>
              <a:t>IDEOLOGY</a:t>
            </a:r>
            <a:endParaRPr lang="zh-CN" altLang="en-US" sz="1300" b="1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3733BD-F7C2-73F5-900C-622E81B2BCBB}"/>
              </a:ext>
            </a:extLst>
          </p:cNvPr>
          <p:cNvSpPr txBox="1"/>
          <p:nvPr/>
        </p:nvSpPr>
        <p:spPr>
          <a:xfrm>
            <a:off x="749808" y="4674923"/>
            <a:ext cx="630936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dirty="0">
                <a:solidFill>
                  <a:srgbClr val="E4E8EC"/>
                </a:solidFill>
                <a:latin typeface="Aptos" panose="020B0004020202020204" pitchFamily="34" charset="0"/>
              </a:rPr>
              <a:t>Leo</a:t>
            </a:r>
            <a:r>
              <a:rPr lang="zh-CN" altLang="en-US" sz="1500" dirty="0">
                <a:solidFill>
                  <a:srgbClr val="E4E8EC"/>
                </a:solidFill>
                <a:latin typeface="Aptos" panose="020B0004020202020204" pitchFamily="34" charset="0"/>
              </a:rPr>
              <a:t> </a:t>
            </a:r>
            <a:r>
              <a:rPr lang="en-US" altLang="zh-CN" sz="1500" dirty="0">
                <a:solidFill>
                  <a:srgbClr val="E4E8EC"/>
                </a:solidFill>
                <a:latin typeface="Aptos" panose="020B0004020202020204" pitchFamily="34" charset="0"/>
              </a:rPr>
              <a:t>Ji,</a:t>
            </a:r>
            <a:r>
              <a:rPr lang="zh-CN" altLang="en-US" sz="1500" dirty="0">
                <a:solidFill>
                  <a:srgbClr val="E4E8EC"/>
                </a:solidFill>
                <a:latin typeface="Aptos" panose="020B0004020202020204" pitchFamily="34" charset="0"/>
              </a:rPr>
              <a:t> </a:t>
            </a:r>
            <a:r>
              <a:rPr lang="en-US" altLang="zh-CN" sz="1500" dirty="0">
                <a:solidFill>
                  <a:srgbClr val="E4E8EC"/>
                </a:solidFill>
                <a:latin typeface="Aptos" panose="020B0004020202020204" pitchFamily="34" charset="0"/>
              </a:rPr>
              <a:t>Michael</a:t>
            </a:r>
            <a:r>
              <a:rPr lang="zh-CN" altLang="en-US" sz="1500" dirty="0">
                <a:solidFill>
                  <a:srgbClr val="E4E8EC"/>
                </a:solidFill>
                <a:latin typeface="Aptos" panose="020B0004020202020204" pitchFamily="34" charset="0"/>
              </a:rPr>
              <a:t> </a:t>
            </a:r>
            <a:r>
              <a:rPr lang="en-US" altLang="zh-CN" sz="1500">
                <a:solidFill>
                  <a:srgbClr val="E4E8EC"/>
                </a:solidFill>
                <a:latin typeface="Aptos" panose="020B0004020202020204" pitchFamily="34" charset="0"/>
              </a:rPr>
              <a:t>Wei</a:t>
            </a:r>
            <a:endParaRPr lang="zh-CN" altLang="en-US" sz="1500" dirty="0">
              <a:solidFill>
                <a:srgbClr val="E4E8E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193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4437B0-0422-D4FD-1FA8-D390E773370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A18C88-BCB0-6087-C3FF-16431E42176C}"/>
              </a:ext>
            </a:extLst>
          </p:cNvPr>
          <p:cNvSpPr txBox="1"/>
          <p:nvPr/>
        </p:nvSpPr>
        <p:spPr>
          <a:xfrm>
            <a:off x="502920" y="310896"/>
            <a:ext cx="566928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0A1F3D"/>
                </a:solidFill>
                <a:latin typeface="Aptos" panose="020B0004020202020204" pitchFamily="34" charset="0"/>
              </a:rPr>
              <a:t>SYSTEM SNAPSHOT</a:t>
            </a:r>
            <a:endParaRPr lang="zh-CN" altLang="en-US" sz="800">
              <a:solidFill>
                <a:srgbClr val="0A1F3D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57DD8F-7C01-1745-B14B-4405C815A134}"/>
              </a:ext>
            </a:extLst>
          </p:cNvPr>
          <p:cNvSpPr txBox="1"/>
          <p:nvPr/>
        </p:nvSpPr>
        <p:spPr>
          <a:xfrm>
            <a:off x="10652760" y="310896"/>
            <a:ext cx="100584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0A1F3D"/>
                </a:solidFill>
                <a:latin typeface="Aptos" panose="020B0004020202020204" pitchFamily="34" charset="0"/>
              </a:rPr>
              <a:t>02 / 08</a:t>
            </a:r>
            <a:endParaRPr lang="zh-CN" altLang="en-US" sz="800">
              <a:solidFill>
                <a:srgbClr val="0A1F3D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7B4DE0-676B-4CD3-52F6-8B43A6889B9D}"/>
              </a:ext>
            </a:extLst>
          </p:cNvPr>
          <p:cNvSpPr/>
          <p:nvPr/>
        </p:nvSpPr>
        <p:spPr>
          <a:xfrm>
            <a:off x="530352" y="6364224"/>
            <a:ext cx="1097280" cy="27432"/>
          </a:xfrm>
          <a:prstGeom prst="rect">
            <a:avLst/>
          </a:prstGeom>
          <a:solidFill>
            <a:srgbClr val="56CF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BEBF70-A4EA-DBBD-DE8C-47B1ADD7BAFB}"/>
              </a:ext>
            </a:extLst>
          </p:cNvPr>
          <p:cNvSpPr txBox="1"/>
          <p:nvPr/>
        </p:nvSpPr>
        <p:spPr>
          <a:xfrm>
            <a:off x="1783080" y="6236208"/>
            <a:ext cx="585216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0A1F3D"/>
                </a:solidFill>
                <a:latin typeface="Aptos" panose="020B0004020202020204" pitchFamily="34" charset="0"/>
              </a:rPr>
              <a:t>Product summary</a:t>
            </a:r>
            <a:endParaRPr lang="zh-CN" altLang="en-US" sz="800">
              <a:solidFill>
                <a:srgbClr val="0A1F3D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16EF37-CBA5-507D-9F9E-3226E18BAF04}"/>
              </a:ext>
            </a:extLst>
          </p:cNvPr>
          <p:cNvSpPr txBox="1"/>
          <p:nvPr/>
        </p:nvSpPr>
        <p:spPr>
          <a:xfrm>
            <a:off x="603504" y="841248"/>
            <a:ext cx="74980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800" b="1">
                <a:solidFill>
                  <a:srgbClr val="0A1F3D"/>
                </a:solidFill>
                <a:latin typeface="Georgia" panose="02040502050405020303" pitchFamily="18" charset="0"/>
              </a:rPr>
              <a:t>A story system, not just a chatbot.</a:t>
            </a:r>
            <a:endParaRPr lang="zh-CN" altLang="en-US" sz="2800" b="1">
              <a:solidFill>
                <a:srgbClr val="0A1F3D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AFF013-D802-6AC4-571E-B40ED632F6FE}"/>
              </a:ext>
            </a:extLst>
          </p:cNvPr>
          <p:cNvSpPr txBox="1"/>
          <p:nvPr/>
        </p:nvSpPr>
        <p:spPr>
          <a:xfrm>
            <a:off x="640080" y="1426464"/>
            <a:ext cx="7772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64748B"/>
                </a:solidFill>
                <a:latin typeface="Aptos" panose="020B0004020202020204" pitchFamily="34" charset="0"/>
              </a:rPr>
              <a:t>The player moves between interviews, but the world keeps one shared state.</a:t>
            </a:r>
            <a:endParaRPr lang="zh-CN" altLang="en-US" sz="14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2B2EA-3FA9-EC3B-76DB-427B9F667662}"/>
              </a:ext>
            </a:extLst>
          </p:cNvPr>
          <p:cNvSpPr/>
          <p:nvPr/>
        </p:nvSpPr>
        <p:spPr>
          <a:xfrm>
            <a:off x="685800" y="2057400"/>
            <a:ext cx="4800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6CF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893D74-418A-4047-BD90-BB26896D5220}"/>
              </a:ext>
            </a:extLst>
          </p:cNvPr>
          <p:cNvSpPr/>
          <p:nvPr/>
        </p:nvSpPr>
        <p:spPr>
          <a:xfrm>
            <a:off x="685800" y="2057400"/>
            <a:ext cx="73152" cy="1097280"/>
          </a:xfrm>
          <a:prstGeom prst="rect">
            <a:avLst/>
          </a:prstGeom>
          <a:solidFill>
            <a:srgbClr val="56CF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55B0AF-09CA-DA3B-87D1-A4D38B01B150}"/>
              </a:ext>
            </a:extLst>
          </p:cNvPr>
          <p:cNvSpPr txBox="1"/>
          <p:nvPr/>
        </p:nvSpPr>
        <p:spPr>
          <a:xfrm>
            <a:off x="905256" y="2221992"/>
            <a:ext cx="441655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11827"/>
                </a:solidFill>
                <a:latin typeface="Aptos Display" panose="020B0004020202020204" pitchFamily="34" charset="0"/>
              </a:rPr>
              <a:t>4 voices</a:t>
            </a:r>
            <a:endParaRPr lang="zh-CN" altLang="en-US" sz="1500" b="1">
              <a:solidFill>
                <a:srgbClr val="111827"/>
              </a:solidFill>
              <a:latin typeface="Aptos Display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E32711-0F85-E7A8-A62D-ED2EAF517537}"/>
              </a:ext>
            </a:extLst>
          </p:cNvPr>
          <p:cNvSpPr txBox="1"/>
          <p:nvPr/>
        </p:nvSpPr>
        <p:spPr>
          <a:xfrm>
            <a:off x="905256" y="2679192"/>
            <a:ext cx="441655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50">
                <a:solidFill>
                  <a:srgbClr val="64748B"/>
                </a:solidFill>
                <a:latin typeface="Aptos" panose="020B0004020202020204" pitchFamily="34" charset="0"/>
              </a:rPr>
              <a:t>Ye, Wang, Shi, Evans each argue from a different moral frame.</a:t>
            </a:r>
            <a:endParaRPr lang="zh-CN" altLang="en-US" sz="95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C9CCF3-9A09-A649-E59E-9C6D2A678B64}"/>
              </a:ext>
            </a:extLst>
          </p:cNvPr>
          <p:cNvSpPr/>
          <p:nvPr/>
        </p:nvSpPr>
        <p:spPr>
          <a:xfrm>
            <a:off x="6172200" y="2057400"/>
            <a:ext cx="4800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C1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990548-9D34-D694-632D-252AA73B2821}"/>
              </a:ext>
            </a:extLst>
          </p:cNvPr>
          <p:cNvSpPr/>
          <p:nvPr/>
        </p:nvSpPr>
        <p:spPr>
          <a:xfrm>
            <a:off x="6172200" y="2057400"/>
            <a:ext cx="73152" cy="1097280"/>
          </a:xfrm>
          <a:prstGeom prst="rect">
            <a:avLst/>
          </a:prstGeom>
          <a:solidFill>
            <a:srgbClr val="F2C1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58F9AC-E75F-5D92-CCDC-499169B20286}"/>
              </a:ext>
            </a:extLst>
          </p:cNvPr>
          <p:cNvSpPr txBox="1"/>
          <p:nvPr/>
        </p:nvSpPr>
        <p:spPr>
          <a:xfrm>
            <a:off x="6391656" y="2221992"/>
            <a:ext cx="441655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11827"/>
                </a:solidFill>
                <a:latin typeface="Aptos Display" panose="020B0004020202020204" pitchFamily="34" charset="0"/>
              </a:rPr>
              <a:t>1 memory</a:t>
            </a:r>
            <a:endParaRPr lang="zh-CN" altLang="en-US" sz="1500" b="1">
              <a:solidFill>
                <a:srgbClr val="111827"/>
              </a:solidFill>
              <a:latin typeface="Aptos Display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CC2064-964E-38C9-E455-48285AF17E97}"/>
              </a:ext>
            </a:extLst>
          </p:cNvPr>
          <p:cNvSpPr txBox="1"/>
          <p:nvPr/>
        </p:nvSpPr>
        <p:spPr>
          <a:xfrm>
            <a:off x="6391656" y="2679192"/>
            <a:ext cx="441655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50">
                <a:solidFill>
                  <a:srgbClr val="64748B"/>
                </a:solidFill>
                <a:latin typeface="Aptos" panose="020B0004020202020204" pitchFamily="34" charset="0"/>
              </a:rPr>
              <a:t>Every choice writes to shared localStorage continuity.</a:t>
            </a:r>
            <a:endParaRPr lang="zh-CN" altLang="en-US" sz="95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B1839D-A4DE-39D3-82DF-02E974D4BD47}"/>
              </a:ext>
            </a:extLst>
          </p:cNvPr>
          <p:cNvSpPr/>
          <p:nvPr/>
        </p:nvSpPr>
        <p:spPr>
          <a:xfrm>
            <a:off x="685800" y="3566160"/>
            <a:ext cx="4800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D8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F25D93-5FFB-59EB-000A-3D5BEE49F4D0}"/>
              </a:ext>
            </a:extLst>
          </p:cNvPr>
          <p:cNvSpPr/>
          <p:nvPr/>
        </p:nvSpPr>
        <p:spPr>
          <a:xfrm>
            <a:off x="685800" y="3566160"/>
            <a:ext cx="73152" cy="1097280"/>
          </a:xfrm>
          <a:prstGeom prst="rect">
            <a:avLst/>
          </a:prstGeom>
          <a:solidFill>
            <a:srgbClr val="7BD88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601EBB-693D-9BF8-8365-ACFA8ED519A1}"/>
              </a:ext>
            </a:extLst>
          </p:cNvPr>
          <p:cNvSpPr txBox="1"/>
          <p:nvPr/>
        </p:nvSpPr>
        <p:spPr>
          <a:xfrm>
            <a:off x="905256" y="3730752"/>
            <a:ext cx="441655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11827"/>
                </a:solidFill>
                <a:latin typeface="Aptos Display" panose="020B0004020202020204" pitchFamily="34" charset="0"/>
              </a:rPr>
              <a:t>10-turn events</a:t>
            </a:r>
            <a:endParaRPr lang="zh-CN" altLang="en-US" sz="1500" b="1">
              <a:solidFill>
                <a:srgbClr val="111827"/>
              </a:solidFill>
              <a:latin typeface="Aptos Display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4AD6B9-7BC9-40A6-DF5B-E0B0FDC2E770}"/>
              </a:ext>
            </a:extLst>
          </p:cNvPr>
          <p:cNvSpPr txBox="1"/>
          <p:nvPr/>
        </p:nvSpPr>
        <p:spPr>
          <a:xfrm>
            <a:off x="905256" y="4187952"/>
            <a:ext cx="441655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50">
                <a:solidFill>
                  <a:srgbClr val="64748B"/>
                </a:solidFill>
                <a:latin typeface="Aptos" panose="020B0004020202020204" pitchFamily="34" charset="0"/>
              </a:rPr>
              <a:t>The World Book timeline forces external pressure.</a:t>
            </a:r>
            <a:endParaRPr lang="zh-CN" altLang="en-US" sz="95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1E4DC5-531E-D122-CBDB-2B05E7CC69B1}"/>
              </a:ext>
            </a:extLst>
          </p:cNvPr>
          <p:cNvSpPr/>
          <p:nvPr/>
        </p:nvSpPr>
        <p:spPr>
          <a:xfrm>
            <a:off x="6172200" y="3566160"/>
            <a:ext cx="4800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6C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B57DEC-15F6-0850-E614-DDF6F11A68E2}"/>
              </a:ext>
            </a:extLst>
          </p:cNvPr>
          <p:cNvSpPr/>
          <p:nvPr/>
        </p:nvSpPr>
        <p:spPr>
          <a:xfrm>
            <a:off x="6172200" y="3566160"/>
            <a:ext cx="73152" cy="1097280"/>
          </a:xfrm>
          <a:prstGeom prst="rect">
            <a:avLst/>
          </a:prstGeom>
          <a:solidFill>
            <a:srgbClr val="D96C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FB10BA-6763-D740-6D5B-EA42D52F0D66}"/>
              </a:ext>
            </a:extLst>
          </p:cNvPr>
          <p:cNvSpPr txBox="1"/>
          <p:nvPr/>
        </p:nvSpPr>
        <p:spPr>
          <a:xfrm>
            <a:off x="6391656" y="3730752"/>
            <a:ext cx="441655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11827"/>
                </a:solidFill>
                <a:latin typeface="Aptos Display" panose="020B0004020202020204" pitchFamily="34" charset="0"/>
              </a:rPr>
              <a:t>4 endings</a:t>
            </a:r>
            <a:endParaRPr lang="zh-CN" altLang="en-US" sz="1500" b="1">
              <a:solidFill>
                <a:srgbClr val="111827"/>
              </a:solidFill>
              <a:latin typeface="Aptos Display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823173-424D-B806-127B-5A17738945CD}"/>
              </a:ext>
            </a:extLst>
          </p:cNvPr>
          <p:cNvSpPr txBox="1"/>
          <p:nvPr/>
        </p:nvSpPr>
        <p:spPr>
          <a:xfrm>
            <a:off x="6391656" y="4187952"/>
            <a:ext cx="441655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50">
                <a:solidFill>
                  <a:srgbClr val="64748B"/>
                </a:solidFill>
                <a:latin typeface="Aptos" panose="020B0004020202020204" pitchFamily="34" charset="0"/>
              </a:rPr>
              <a:t>Alignment decides the endgame after turn six.</a:t>
            </a:r>
            <a:endParaRPr lang="zh-CN" altLang="en-US" sz="95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487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C86F24-1EF4-4586-B419-13318197AAC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F7F028-0221-D4A7-0B5B-63A0A4A136E3}"/>
              </a:ext>
            </a:extLst>
          </p:cNvPr>
          <p:cNvSpPr txBox="1"/>
          <p:nvPr/>
        </p:nvSpPr>
        <p:spPr>
          <a:xfrm>
            <a:off x="502920" y="310896"/>
            <a:ext cx="566928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F1F3F5"/>
                </a:solidFill>
                <a:latin typeface="Aptos" panose="020B0004020202020204" pitchFamily="34" charset="0"/>
              </a:rPr>
              <a:t>RUNTIME</a:t>
            </a:r>
            <a:endParaRPr lang="zh-CN" altLang="en-US" sz="800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28B680-E715-F9EE-3144-78139BC450ED}"/>
              </a:ext>
            </a:extLst>
          </p:cNvPr>
          <p:cNvSpPr txBox="1"/>
          <p:nvPr/>
        </p:nvSpPr>
        <p:spPr>
          <a:xfrm>
            <a:off x="10652760" y="310896"/>
            <a:ext cx="100584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F1F3F5"/>
                </a:solidFill>
                <a:latin typeface="Aptos" panose="020B0004020202020204" pitchFamily="34" charset="0"/>
              </a:rPr>
              <a:t>03 / 08</a:t>
            </a:r>
            <a:endParaRPr lang="zh-CN" altLang="en-US" sz="800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A678F6-4BB3-0754-4B7C-945226259471}"/>
              </a:ext>
            </a:extLst>
          </p:cNvPr>
          <p:cNvSpPr/>
          <p:nvPr/>
        </p:nvSpPr>
        <p:spPr>
          <a:xfrm>
            <a:off x="530352" y="6364224"/>
            <a:ext cx="1097280" cy="27432"/>
          </a:xfrm>
          <a:prstGeom prst="rect">
            <a:avLst/>
          </a:prstGeom>
          <a:solidFill>
            <a:srgbClr val="56CF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BD8DF-7CC3-C34F-5FE4-0C54E9231F73}"/>
              </a:ext>
            </a:extLst>
          </p:cNvPr>
          <p:cNvSpPr txBox="1"/>
          <p:nvPr/>
        </p:nvSpPr>
        <p:spPr>
          <a:xfrm>
            <a:off x="1783080" y="6236208"/>
            <a:ext cx="585216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F1F3F5"/>
                </a:solidFill>
                <a:latin typeface="Aptos" panose="020B0004020202020204" pitchFamily="34" charset="0"/>
              </a:rPr>
              <a:t>One turn pipeline</a:t>
            </a:r>
            <a:endParaRPr lang="zh-CN" altLang="en-US" sz="800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8D5FA4-D9C8-F71A-A0DF-086141C6C9F2}"/>
              </a:ext>
            </a:extLst>
          </p:cNvPr>
          <p:cNvSpPr txBox="1"/>
          <p:nvPr/>
        </p:nvSpPr>
        <p:spPr>
          <a:xfrm>
            <a:off x="603504" y="841248"/>
            <a:ext cx="768096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800" b="1">
                <a:solidFill>
                  <a:srgbClr val="F1F3F5"/>
                </a:solidFill>
                <a:latin typeface="Georgia" panose="02040502050405020303" pitchFamily="18" charset="0"/>
              </a:rPr>
              <a:t>One player line becomes six consequences.</a:t>
            </a:r>
            <a:endParaRPr lang="zh-CN" altLang="en-US" sz="2800" b="1">
              <a:solidFill>
                <a:srgbClr val="F1F3F5"/>
              </a:solidFill>
              <a:latin typeface="Georgia" panose="02040502050405020303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11755F4-3C07-B29C-FED1-E94DC2DE52FF}"/>
              </a:ext>
            </a:extLst>
          </p:cNvPr>
          <p:cNvSpPr/>
          <p:nvPr/>
        </p:nvSpPr>
        <p:spPr>
          <a:xfrm>
            <a:off x="658368" y="2157984"/>
            <a:ext cx="640080" cy="640080"/>
          </a:xfrm>
          <a:prstGeom prst="ellipse">
            <a:avLst/>
          </a:prstGeom>
          <a:solidFill>
            <a:srgbClr val="56CF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E1B5B-9556-E8FC-9F2F-BFE31D68BFC8}"/>
              </a:ext>
            </a:extLst>
          </p:cNvPr>
          <p:cNvSpPr txBox="1"/>
          <p:nvPr/>
        </p:nvSpPr>
        <p:spPr>
          <a:xfrm>
            <a:off x="768096" y="2331720"/>
            <a:ext cx="420624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0A1F3D"/>
                </a:solidFill>
                <a:latin typeface="Aptos" panose="020B0004020202020204" pitchFamily="34" charset="0"/>
              </a:rPr>
              <a:t>01</a:t>
            </a:r>
            <a:endParaRPr lang="zh-CN" altLang="en-US" sz="1000" b="1">
              <a:solidFill>
                <a:srgbClr val="0A1F3D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3C9FE9-893E-E626-ADCE-8C0F6673261F}"/>
              </a:ext>
            </a:extLst>
          </p:cNvPr>
          <p:cNvSpPr txBox="1"/>
          <p:nvPr/>
        </p:nvSpPr>
        <p:spPr>
          <a:xfrm>
            <a:off x="429768" y="2999232"/>
            <a:ext cx="109728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1F3F5"/>
                </a:solidFill>
                <a:latin typeface="Aptos" panose="020B0004020202020204" pitchFamily="34" charset="0"/>
              </a:rPr>
              <a:t>Speak</a:t>
            </a:r>
            <a:endParaRPr lang="zh-CN" altLang="en-US" sz="1200" b="1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366BF9-B6C8-97FF-AD4E-7CE142CE412B}"/>
              </a:ext>
            </a:extLst>
          </p:cNvPr>
          <p:cNvSpPr/>
          <p:nvPr/>
        </p:nvSpPr>
        <p:spPr>
          <a:xfrm>
            <a:off x="1435608" y="2459736"/>
            <a:ext cx="804672" cy="32004"/>
          </a:xfrm>
          <a:prstGeom prst="rect">
            <a:avLst/>
          </a:prstGeom>
          <a:solidFill>
            <a:srgbClr val="E4E8EC">
              <a:alpha val="7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AA07394-0880-1AC5-60E2-B15057F13554}"/>
              </a:ext>
            </a:extLst>
          </p:cNvPr>
          <p:cNvSpPr/>
          <p:nvPr/>
        </p:nvSpPr>
        <p:spPr>
          <a:xfrm>
            <a:off x="2532888" y="2157984"/>
            <a:ext cx="640080" cy="640080"/>
          </a:xfrm>
          <a:prstGeom prst="ellipse">
            <a:avLst/>
          </a:prstGeom>
          <a:solidFill>
            <a:srgbClr val="E4E8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9243DC-00B1-BF33-1FDA-44AE11E09849}"/>
              </a:ext>
            </a:extLst>
          </p:cNvPr>
          <p:cNvSpPr txBox="1"/>
          <p:nvPr/>
        </p:nvSpPr>
        <p:spPr>
          <a:xfrm>
            <a:off x="2642616" y="2331720"/>
            <a:ext cx="420624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0A1F3D"/>
                </a:solidFill>
                <a:latin typeface="Aptos" panose="020B0004020202020204" pitchFamily="34" charset="0"/>
              </a:rPr>
              <a:t>02</a:t>
            </a:r>
            <a:endParaRPr lang="zh-CN" altLang="en-US" sz="1000" b="1">
              <a:solidFill>
                <a:srgbClr val="0A1F3D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179212-9E78-79B5-62D2-C4CFF3E26113}"/>
              </a:ext>
            </a:extLst>
          </p:cNvPr>
          <p:cNvSpPr txBox="1"/>
          <p:nvPr/>
        </p:nvSpPr>
        <p:spPr>
          <a:xfrm>
            <a:off x="2304288" y="2999232"/>
            <a:ext cx="109728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1F3F5"/>
                </a:solidFill>
                <a:latin typeface="Aptos" panose="020B0004020202020204" pitchFamily="34" charset="0"/>
              </a:rPr>
              <a:t>Remember</a:t>
            </a:r>
            <a:endParaRPr lang="zh-CN" altLang="en-US" sz="1200" b="1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A02F8B-56AB-3DE6-647B-C1C730FF022D}"/>
              </a:ext>
            </a:extLst>
          </p:cNvPr>
          <p:cNvSpPr/>
          <p:nvPr/>
        </p:nvSpPr>
        <p:spPr>
          <a:xfrm>
            <a:off x="3310128" y="2459736"/>
            <a:ext cx="804672" cy="32004"/>
          </a:xfrm>
          <a:prstGeom prst="rect">
            <a:avLst/>
          </a:prstGeom>
          <a:solidFill>
            <a:srgbClr val="E4E8EC">
              <a:alpha val="7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C32CCF5-8B3C-A943-479D-2A97497217ED}"/>
              </a:ext>
            </a:extLst>
          </p:cNvPr>
          <p:cNvSpPr/>
          <p:nvPr/>
        </p:nvSpPr>
        <p:spPr>
          <a:xfrm>
            <a:off x="4407408" y="2157984"/>
            <a:ext cx="640080" cy="640080"/>
          </a:xfrm>
          <a:prstGeom prst="ellipse">
            <a:avLst/>
          </a:prstGeom>
          <a:solidFill>
            <a:srgbClr val="F2C1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BE1AEA-FCDB-9CBF-CC31-E370CB256958}"/>
              </a:ext>
            </a:extLst>
          </p:cNvPr>
          <p:cNvSpPr txBox="1"/>
          <p:nvPr/>
        </p:nvSpPr>
        <p:spPr>
          <a:xfrm>
            <a:off x="4517136" y="2331720"/>
            <a:ext cx="420624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0A1F3D"/>
                </a:solidFill>
                <a:latin typeface="Aptos" panose="020B0004020202020204" pitchFamily="34" charset="0"/>
              </a:rPr>
              <a:t>03</a:t>
            </a:r>
            <a:endParaRPr lang="zh-CN" altLang="en-US" sz="1000" b="1">
              <a:solidFill>
                <a:srgbClr val="0A1F3D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2AFEDF-9E1A-EF91-3431-F13273063BF4}"/>
              </a:ext>
            </a:extLst>
          </p:cNvPr>
          <p:cNvSpPr txBox="1"/>
          <p:nvPr/>
        </p:nvSpPr>
        <p:spPr>
          <a:xfrm>
            <a:off x="4178808" y="2999232"/>
            <a:ext cx="109728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1F3F5"/>
                </a:solidFill>
                <a:latin typeface="Aptos" panose="020B0004020202020204" pitchFamily="34" charset="0"/>
              </a:rPr>
              <a:t>Timeline</a:t>
            </a:r>
            <a:endParaRPr lang="zh-CN" altLang="en-US" sz="1200" b="1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0778B8-3B8F-DB99-33C8-73840A518F79}"/>
              </a:ext>
            </a:extLst>
          </p:cNvPr>
          <p:cNvSpPr/>
          <p:nvPr/>
        </p:nvSpPr>
        <p:spPr>
          <a:xfrm>
            <a:off x="5184648" y="2459736"/>
            <a:ext cx="804672" cy="32004"/>
          </a:xfrm>
          <a:prstGeom prst="rect">
            <a:avLst/>
          </a:prstGeom>
          <a:solidFill>
            <a:srgbClr val="E4E8EC">
              <a:alpha val="7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55FC31C-7A05-E503-DE19-BFBDBBE93B18}"/>
              </a:ext>
            </a:extLst>
          </p:cNvPr>
          <p:cNvSpPr/>
          <p:nvPr/>
        </p:nvSpPr>
        <p:spPr>
          <a:xfrm>
            <a:off x="6281928" y="2157984"/>
            <a:ext cx="640080" cy="640080"/>
          </a:xfrm>
          <a:prstGeom prst="ellipse">
            <a:avLst/>
          </a:prstGeom>
          <a:solidFill>
            <a:srgbClr val="56CF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F597D9-007E-B411-E178-5944A12E71AC}"/>
              </a:ext>
            </a:extLst>
          </p:cNvPr>
          <p:cNvSpPr txBox="1"/>
          <p:nvPr/>
        </p:nvSpPr>
        <p:spPr>
          <a:xfrm>
            <a:off x="6391656" y="2331720"/>
            <a:ext cx="420624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0A1F3D"/>
                </a:solidFill>
                <a:latin typeface="Aptos" panose="020B0004020202020204" pitchFamily="34" charset="0"/>
              </a:rPr>
              <a:t>04</a:t>
            </a:r>
            <a:endParaRPr lang="zh-CN" altLang="en-US" sz="1000" b="1">
              <a:solidFill>
                <a:srgbClr val="0A1F3D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4EF7E9-3AAA-0712-2FA2-E41650524E99}"/>
              </a:ext>
            </a:extLst>
          </p:cNvPr>
          <p:cNvSpPr txBox="1"/>
          <p:nvPr/>
        </p:nvSpPr>
        <p:spPr>
          <a:xfrm>
            <a:off x="6053328" y="2999232"/>
            <a:ext cx="109728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1F3F5"/>
                </a:solidFill>
                <a:latin typeface="Aptos" panose="020B0004020202020204" pitchFamily="34" charset="0"/>
              </a:rPr>
              <a:t>Persona</a:t>
            </a:r>
            <a:endParaRPr lang="zh-CN" altLang="en-US" sz="1200" b="1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25C0BC-8BFF-5CEB-CF88-08F346D59E28}"/>
              </a:ext>
            </a:extLst>
          </p:cNvPr>
          <p:cNvSpPr/>
          <p:nvPr/>
        </p:nvSpPr>
        <p:spPr>
          <a:xfrm>
            <a:off x="7059168" y="2459736"/>
            <a:ext cx="804672" cy="32004"/>
          </a:xfrm>
          <a:prstGeom prst="rect">
            <a:avLst/>
          </a:prstGeom>
          <a:solidFill>
            <a:srgbClr val="E4E8EC">
              <a:alpha val="7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962DB39-1A70-9686-D5A1-D4D4892D6399}"/>
              </a:ext>
            </a:extLst>
          </p:cNvPr>
          <p:cNvSpPr/>
          <p:nvPr/>
        </p:nvSpPr>
        <p:spPr>
          <a:xfrm>
            <a:off x="8156448" y="2157984"/>
            <a:ext cx="640080" cy="640080"/>
          </a:xfrm>
          <a:prstGeom prst="ellipse">
            <a:avLst/>
          </a:prstGeom>
          <a:solidFill>
            <a:srgbClr val="E4E8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1F9178-3D5D-8437-7CCE-56232F94C366}"/>
              </a:ext>
            </a:extLst>
          </p:cNvPr>
          <p:cNvSpPr txBox="1"/>
          <p:nvPr/>
        </p:nvSpPr>
        <p:spPr>
          <a:xfrm>
            <a:off x="8266176" y="2331720"/>
            <a:ext cx="420624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0A1F3D"/>
                </a:solidFill>
                <a:latin typeface="Aptos" panose="020B0004020202020204" pitchFamily="34" charset="0"/>
              </a:rPr>
              <a:t>05</a:t>
            </a:r>
            <a:endParaRPr lang="zh-CN" altLang="en-US" sz="1000" b="1">
              <a:solidFill>
                <a:srgbClr val="0A1F3D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85A859-E0F2-0D51-4348-8D37FFACBB0E}"/>
              </a:ext>
            </a:extLst>
          </p:cNvPr>
          <p:cNvSpPr txBox="1"/>
          <p:nvPr/>
        </p:nvSpPr>
        <p:spPr>
          <a:xfrm>
            <a:off x="7927848" y="2999232"/>
            <a:ext cx="109728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1F3F5"/>
                </a:solidFill>
                <a:latin typeface="Aptos" panose="020B0004020202020204" pitchFamily="34" charset="0"/>
              </a:rPr>
              <a:t>Align</a:t>
            </a:r>
            <a:endParaRPr lang="zh-CN" altLang="en-US" sz="1200" b="1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27E2C3-304B-5A36-D4CB-999F78A78E8C}"/>
              </a:ext>
            </a:extLst>
          </p:cNvPr>
          <p:cNvSpPr/>
          <p:nvPr/>
        </p:nvSpPr>
        <p:spPr>
          <a:xfrm>
            <a:off x="8933688" y="2459736"/>
            <a:ext cx="804672" cy="32004"/>
          </a:xfrm>
          <a:prstGeom prst="rect">
            <a:avLst/>
          </a:prstGeom>
          <a:solidFill>
            <a:srgbClr val="E4E8EC">
              <a:alpha val="7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387F6BC-4372-4112-AAD8-BE92677EAB88}"/>
              </a:ext>
            </a:extLst>
          </p:cNvPr>
          <p:cNvSpPr/>
          <p:nvPr/>
        </p:nvSpPr>
        <p:spPr>
          <a:xfrm>
            <a:off x="10030968" y="2157984"/>
            <a:ext cx="640081" cy="640080"/>
          </a:xfrm>
          <a:prstGeom prst="ellipse">
            <a:avLst/>
          </a:prstGeom>
          <a:solidFill>
            <a:srgbClr val="F2C1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A7F6FE-28C1-6B84-D079-702F6EAC512F}"/>
              </a:ext>
            </a:extLst>
          </p:cNvPr>
          <p:cNvSpPr txBox="1"/>
          <p:nvPr/>
        </p:nvSpPr>
        <p:spPr>
          <a:xfrm>
            <a:off x="10140696" y="2331720"/>
            <a:ext cx="420624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0A1F3D"/>
                </a:solidFill>
                <a:latin typeface="Aptos" panose="020B0004020202020204" pitchFamily="34" charset="0"/>
              </a:rPr>
              <a:t>06</a:t>
            </a:r>
            <a:endParaRPr lang="zh-CN" altLang="en-US" sz="1000" b="1">
              <a:solidFill>
                <a:srgbClr val="0A1F3D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59208C-4598-BDCE-0755-1FEE22F90D73}"/>
              </a:ext>
            </a:extLst>
          </p:cNvPr>
          <p:cNvSpPr txBox="1"/>
          <p:nvPr/>
        </p:nvSpPr>
        <p:spPr>
          <a:xfrm>
            <a:off x="9802368" y="2999232"/>
            <a:ext cx="109728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1F3F5"/>
                </a:solidFill>
                <a:latin typeface="Aptos" panose="020B0004020202020204" pitchFamily="34" charset="0"/>
              </a:rPr>
              <a:t>Resolve</a:t>
            </a:r>
            <a:endParaRPr lang="zh-CN" altLang="en-US" sz="1200" b="1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545807-D2CB-BDFF-2ACE-FDD025279481}"/>
              </a:ext>
            </a:extLst>
          </p:cNvPr>
          <p:cNvSpPr txBox="1"/>
          <p:nvPr/>
        </p:nvSpPr>
        <p:spPr>
          <a:xfrm>
            <a:off x="1005840" y="4114800"/>
            <a:ext cx="978408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700" i="1">
                <a:solidFill>
                  <a:srgbClr val="56CFE1"/>
                </a:solidFill>
                <a:latin typeface="Georgia" panose="02040502050405020303" pitchFamily="18" charset="0"/>
              </a:rPr>
              <a:t>The model does not own event timing. Forced timeline events and ending checks are deterministic app state.</a:t>
            </a:r>
            <a:endParaRPr lang="zh-CN" altLang="en-US" sz="1700" i="1">
              <a:solidFill>
                <a:srgbClr val="56CFE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042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DA3641-DF35-B1D2-EA0C-8BCCEA42385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4925A-A7F5-CF76-8E8D-2CCFDF40FE3D}"/>
              </a:ext>
            </a:extLst>
          </p:cNvPr>
          <p:cNvSpPr txBox="1"/>
          <p:nvPr/>
        </p:nvSpPr>
        <p:spPr>
          <a:xfrm>
            <a:off x="502920" y="310896"/>
            <a:ext cx="566928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0A1F3D"/>
                </a:solidFill>
                <a:latin typeface="Aptos" panose="020B0004020202020204" pitchFamily="34" charset="0"/>
              </a:rPr>
              <a:t>ALIGNMENT MODEL</a:t>
            </a:r>
            <a:endParaRPr lang="zh-CN" altLang="en-US" sz="800">
              <a:solidFill>
                <a:srgbClr val="0A1F3D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172191-6CD3-BD2A-E8B9-9705B3BEBB7F}"/>
              </a:ext>
            </a:extLst>
          </p:cNvPr>
          <p:cNvSpPr txBox="1"/>
          <p:nvPr/>
        </p:nvSpPr>
        <p:spPr>
          <a:xfrm>
            <a:off x="10652760" y="310896"/>
            <a:ext cx="100584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0A1F3D"/>
                </a:solidFill>
                <a:latin typeface="Aptos" panose="020B0004020202020204" pitchFamily="34" charset="0"/>
              </a:rPr>
              <a:t>04 / 08</a:t>
            </a:r>
            <a:endParaRPr lang="zh-CN" altLang="en-US" sz="800">
              <a:solidFill>
                <a:srgbClr val="0A1F3D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95C5A7-88D7-E0E9-930D-858243EE1415}"/>
              </a:ext>
            </a:extLst>
          </p:cNvPr>
          <p:cNvSpPr/>
          <p:nvPr/>
        </p:nvSpPr>
        <p:spPr>
          <a:xfrm>
            <a:off x="530352" y="6364224"/>
            <a:ext cx="1097280" cy="27432"/>
          </a:xfrm>
          <a:prstGeom prst="rect">
            <a:avLst/>
          </a:prstGeom>
          <a:solidFill>
            <a:srgbClr val="56CF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BCFA19-762C-D730-C397-6BEBEAB55D6C}"/>
              </a:ext>
            </a:extLst>
          </p:cNvPr>
          <p:cNvSpPr txBox="1"/>
          <p:nvPr/>
        </p:nvSpPr>
        <p:spPr>
          <a:xfrm>
            <a:off x="1783080" y="6236208"/>
            <a:ext cx="585216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0A1F3D"/>
                </a:solidFill>
                <a:latin typeface="Aptos" panose="020B0004020202020204" pitchFamily="34" charset="0"/>
              </a:rPr>
              <a:t>Ideology axes</a:t>
            </a:r>
            <a:endParaRPr lang="zh-CN" altLang="en-US" sz="800">
              <a:solidFill>
                <a:srgbClr val="0A1F3D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3BB77-F2DC-4499-097B-EA9A20E7D4F5}"/>
              </a:ext>
            </a:extLst>
          </p:cNvPr>
          <p:cNvSpPr txBox="1"/>
          <p:nvPr/>
        </p:nvSpPr>
        <p:spPr>
          <a:xfrm>
            <a:off x="603504" y="841248"/>
            <a:ext cx="74980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800" b="1">
                <a:solidFill>
                  <a:srgbClr val="0A1F3D"/>
                </a:solidFill>
                <a:latin typeface="Georgia" panose="02040502050405020303" pitchFamily="18" charset="0"/>
              </a:rPr>
              <a:t>The player is scored by worldview.</a:t>
            </a:r>
            <a:endParaRPr lang="zh-CN" altLang="en-US" sz="2800" b="1">
              <a:solidFill>
                <a:srgbClr val="0A1F3D"/>
              </a:solidFill>
              <a:latin typeface="Georgia" panose="020405020504050203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6DE7E6-FEEF-69A5-A632-6D53201A4E47}"/>
              </a:ext>
            </a:extLst>
          </p:cNvPr>
          <p:cNvSpPr/>
          <p:nvPr/>
        </p:nvSpPr>
        <p:spPr>
          <a:xfrm>
            <a:off x="777240" y="1828800"/>
            <a:ext cx="4800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6C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C4264F-94B7-889E-37AB-2642D1A5EB06}"/>
              </a:ext>
            </a:extLst>
          </p:cNvPr>
          <p:cNvSpPr/>
          <p:nvPr/>
        </p:nvSpPr>
        <p:spPr>
          <a:xfrm>
            <a:off x="777240" y="1828800"/>
            <a:ext cx="73152" cy="1234440"/>
          </a:xfrm>
          <a:prstGeom prst="rect">
            <a:avLst/>
          </a:prstGeom>
          <a:solidFill>
            <a:srgbClr val="D96C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E0FB-BBB6-4247-2D06-F49A5062AAD5}"/>
              </a:ext>
            </a:extLst>
          </p:cNvPr>
          <p:cNvSpPr txBox="1"/>
          <p:nvPr/>
        </p:nvSpPr>
        <p:spPr>
          <a:xfrm>
            <a:off x="996696" y="1993392"/>
            <a:ext cx="441655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11827"/>
                </a:solidFill>
                <a:latin typeface="Aptos Display" panose="020B0004020202020204" pitchFamily="34" charset="0"/>
              </a:rPr>
              <a:t>Adventist</a:t>
            </a:r>
            <a:endParaRPr lang="zh-CN" altLang="en-US" sz="1500" b="1">
              <a:solidFill>
                <a:srgbClr val="111827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5141AB-10AC-2833-E1C6-E1835406215F}"/>
              </a:ext>
            </a:extLst>
          </p:cNvPr>
          <p:cNvSpPr txBox="1"/>
          <p:nvPr/>
        </p:nvSpPr>
        <p:spPr>
          <a:xfrm>
            <a:off x="996696" y="2450592"/>
            <a:ext cx="441655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50">
                <a:solidFill>
                  <a:srgbClr val="64748B"/>
                </a:solidFill>
                <a:latin typeface="Aptos" panose="020B0004020202020204" pitchFamily="34" charset="0"/>
              </a:rPr>
              <a:t>Humanity is failed. Trisolaris is correction.</a:t>
            </a:r>
            <a:endParaRPr lang="zh-CN" altLang="en-US" sz="95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600C4F-E370-7950-35FC-79DF209310CF}"/>
              </a:ext>
            </a:extLst>
          </p:cNvPr>
          <p:cNvSpPr/>
          <p:nvPr/>
        </p:nvSpPr>
        <p:spPr>
          <a:xfrm>
            <a:off x="6217920" y="1828800"/>
            <a:ext cx="4800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6CF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FDBE23-8143-67F8-9299-E8FC0D848752}"/>
              </a:ext>
            </a:extLst>
          </p:cNvPr>
          <p:cNvSpPr/>
          <p:nvPr/>
        </p:nvSpPr>
        <p:spPr>
          <a:xfrm>
            <a:off x="6217920" y="1828800"/>
            <a:ext cx="73152" cy="1234440"/>
          </a:xfrm>
          <a:prstGeom prst="rect">
            <a:avLst/>
          </a:prstGeom>
          <a:solidFill>
            <a:srgbClr val="56CF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484D0D-9F8A-31D7-3239-2D736266759F}"/>
              </a:ext>
            </a:extLst>
          </p:cNvPr>
          <p:cNvSpPr txBox="1"/>
          <p:nvPr/>
        </p:nvSpPr>
        <p:spPr>
          <a:xfrm>
            <a:off x="6437376" y="1993392"/>
            <a:ext cx="441655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11827"/>
                </a:solidFill>
                <a:latin typeface="Aptos Display" panose="020B0004020202020204" pitchFamily="34" charset="0"/>
              </a:rPr>
              <a:t>Redemptionist</a:t>
            </a:r>
            <a:endParaRPr lang="zh-CN" altLang="en-US" sz="1500" b="1">
              <a:solidFill>
                <a:srgbClr val="111827"/>
              </a:solidFill>
              <a:latin typeface="Aptos Display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2BF31D-0330-A198-6970-6D1126E9F817}"/>
              </a:ext>
            </a:extLst>
          </p:cNvPr>
          <p:cNvSpPr txBox="1"/>
          <p:nvPr/>
        </p:nvSpPr>
        <p:spPr>
          <a:xfrm>
            <a:off x="6437376" y="2450592"/>
            <a:ext cx="441655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50">
                <a:solidFill>
                  <a:srgbClr val="64748B"/>
                </a:solidFill>
                <a:latin typeface="Aptos" panose="020B0004020202020204" pitchFamily="34" charset="0"/>
              </a:rPr>
              <a:t>Trisolaris is godlike. Service outranks sovereignty.</a:t>
            </a:r>
            <a:endParaRPr lang="zh-CN" altLang="en-US" sz="95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A86EDA-BEDB-6FA4-4D56-39C682099984}"/>
              </a:ext>
            </a:extLst>
          </p:cNvPr>
          <p:cNvSpPr/>
          <p:nvPr/>
        </p:nvSpPr>
        <p:spPr>
          <a:xfrm>
            <a:off x="777240" y="3429000"/>
            <a:ext cx="4800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C1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1447ED-0AE4-D3A2-DB0A-C0CFC83D2DBA}"/>
              </a:ext>
            </a:extLst>
          </p:cNvPr>
          <p:cNvSpPr/>
          <p:nvPr/>
        </p:nvSpPr>
        <p:spPr>
          <a:xfrm>
            <a:off x="777240" y="3429000"/>
            <a:ext cx="73152" cy="1234440"/>
          </a:xfrm>
          <a:prstGeom prst="rect">
            <a:avLst/>
          </a:prstGeom>
          <a:solidFill>
            <a:srgbClr val="F2C1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0FF8FA-3CC5-145E-C014-F1A234AEB619}"/>
              </a:ext>
            </a:extLst>
          </p:cNvPr>
          <p:cNvSpPr txBox="1"/>
          <p:nvPr/>
        </p:nvSpPr>
        <p:spPr>
          <a:xfrm>
            <a:off x="996696" y="3593592"/>
            <a:ext cx="441655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11827"/>
                </a:solidFill>
                <a:latin typeface="Aptos Display" panose="020B0004020202020204" pitchFamily="34" charset="0"/>
              </a:rPr>
              <a:t>Survivor</a:t>
            </a:r>
            <a:endParaRPr lang="zh-CN" altLang="en-US" sz="1500" b="1">
              <a:solidFill>
                <a:srgbClr val="111827"/>
              </a:solidFill>
              <a:latin typeface="Aptos Display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D40560-3DF6-2F58-0A7B-1DC489E8A68E}"/>
              </a:ext>
            </a:extLst>
          </p:cNvPr>
          <p:cNvSpPr txBox="1"/>
          <p:nvPr/>
        </p:nvSpPr>
        <p:spPr>
          <a:xfrm>
            <a:off x="996696" y="4050792"/>
            <a:ext cx="441655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50">
                <a:solidFill>
                  <a:srgbClr val="64748B"/>
                </a:solidFill>
                <a:latin typeface="Aptos" panose="020B0004020202020204" pitchFamily="34" charset="0"/>
              </a:rPr>
              <a:t>Save mine first. The species is negotiable.</a:t>
            </a:r>
            <a:endParaRPr lang="zh-CN" altLang="en-US" sz="95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7B7C7A-474B-1E4F-50D6-C1F0052DCC09}"/>
              </a:ext>
            </a:extLst>
          </p:cNvPr>
          <p:cNvSpPr/>
          <p:nvPr/>
        </p:nvSpPr>
        <p:spPr>
          <a:xfrm>
            <a:off x="6217920" y="3429000"/>
            <a:ext cx="4800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7BD8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0A3ECD-3EE0-3DFE-3F3A-968344E0C7BF}"/>
              </a:ext>
            </a:extLst>
          </p:cNvPr>
          <p:cNvSpPr/>
          <p:nvPr/>
        </p:nvSpPr>
        <p:spPr>
          <a:xfrm>
            <a:off x="6217920" y="3429000"/>
            <a:ext cx="73152" cy="1234440"/>
          </a:xfrm>
          <a:prstGeom prst="rect">
            <a:avLst/>
          </a:prstGeom>
          <a:solidFill>
            <a:srgbClr val="7BD88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F51F9B-FE83-4934-B929-1B0D768E6B95}"/>
              </a:ext>
            </a:extLst>
          </p:cNvPr>
          <p:cNvSpPr txBox="1"/>
          <p:nvPr/>
        </p:nvSpPr>
        <p:spPr>
          <a:xfrm>
            <a:off x="6437376" y="3593592"/>
            <a:ext cx="441655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11827"/>
                </a:solidFill>
                <a:latin typeface="Aptos Display" panose="020B0004020202020204" pitchFamily="34" charset="0"/>
              </a:rPr>
              <a:t>Frontier</a:t>
            </a:r>
            <a:endParaRPr lang="zh-CN" altLang="en-US" sz="1500" b="1">
              <a:solidFill>
                <a:srgbClr val="111827"/>
              </a:solidFill>
              <a:latin typeface="Aptos Display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15916-D786-0471-30C4-0D1E348B3747}"/>
              </a:ext>
            </a:extLst>
          </p:cNvPr>
          <p:cNvSpPr txBox="1"/>
          <p:nvPr/>
        </p:nvSpPr>
        <p:spPr>
          <a:xfrm>
            <a:off x="6437376" y="4050792"/>
            <a:ext cx="441655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50">
                <a:solidFill>
                  <a:srgbClr val="64748B"/>
                </a:solidFill>
                <a:latin typeface="Aptos" panose="020B0004020202020204" pitchFamily="34" charset="0"/>
              </a:rPr>
              <a:t>Investigate, resist, protect ordinary human life.</a:t>
            </a:r>
            <a:endParaRPr lang="zh-CN" altLang="en-US" sz="95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019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EA2BD6-C4F9-FB2D-D1AF-1D691A245D0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ED10BC-243D-C691-940A-47E55C2ED578}"/>
              </a:ext>
            </a:extLst>
          </p:cNvPr>
          <p:cNvSpPr txBox="1"/>
          <p:nvPr/>
        </p:nvSpPr>
        <p:spPr>
          <a:xfrm>
            <a:off x="502920" y="310896"/>
            <a:ext cx="566928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F1F3F5"/>
                </a:solidFill>
                <a:latin typeface="Aptos" panose="020B0004020202020204" pitchFamily="34" charset="0"/>
              </a:rPr>
              <a:t>THE CAST</a:t>
            </a:r>
            <a:endParaRPr lang="zh-CN" altLang="en-US" sz="800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3465CB-0BF7-02BD-22B5-E8DC7289C2BB}"/>
              </a:ext>
            </a:extLst>
          </p:cNvPr>
          <p:cNvSpPr txBox="1"/>
          <p:nvPr/>
        </p:nvSpPr>
        <p:spPr>
          <a:xfrm>
            <a:off x="10652760" y="310896"/>
            <a:ext cx="100584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F1F3F5"/>
                </a:solidFill>
                <a:latin typeface="Aptos" panose="020B0004020202020204" pitchFamily="34" charset="0"/>
              </a:rPr>
              <a:t>05 / 08</a:t>
            </a:r>
            <a:endParaRPr lang="zh-CN" altLang="en-US" sz="800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8AA8EA-AE94-1E1D-09A3-6339F249FB0F}"/>
              </a:ext>
            </a:extLst>
          </p:cNvPr>
          <p:cNvSpPr/>
          <p:nvPr/>
        </p:nvSpPr>
        <p:spPr>
          <a:xfrm>
            <a:off x="530352" y="6364224"/>
            <a:ext cx="1097280" cy="27432"/>
          </a:xfrm>
          <a:prstGeom prst="rect">
            <a:avLst/>
          </a:prstGeom>
          <a:solidFill>
            <a:srgbClr val="56CF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866207-844D-45F7-A7B3-A5ADFD4C5F58}"/>
              </a:ext>
            </a:extLst>
          </p:cNvPr>
          <p:cNvSpPr txBox="1"/>
          <p:nvPr/>
        </p:nvSpPr>
        <p:spPr>
          <a:xfrm>
            <a:off x="1783080" y="6236208"/>
            <a:ext cx="585216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F1F3F5"/>
                </a:solidFill>
                <a:latin typeface="Aptos" panose="020B0004020202020204" pitchFamily="34" charset="0"/>
              </a:rPr>
              <a:t>Character ideology</a:t>
            </a:r>
            <a:endParaRPr lang="zh-CN" altLang="en-US" sz="800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0BEAAC-ABEA-1615-7702-91A0B599A0C1}"/>
              </a:ext>
            </a:extLst>
          </p:cNvPr>
          <p:cNvSpPr txBox="1"/>
          <p:nvPr/>
        </p:nvSpPr>
        <p:spPr>
          <a:xfrm>
            <a:off x="603504" y="841248"/>
            <a:ext cx="658368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F1F3F5"/>
                </a:solidFill>
                <a:latin typeface="Georgia" panose="02040502050405020303" pitchFamily="18" charset="0"/>
              </a:rPr>
              <a:t>The cast is an argument.</a:t>
            </a:r>
            <a:endParaRPr lang="zh-CN" altLang="en-US" sz="3000" b="1">
              <a:solidFill>
                <a:srgbClr val="F1F3F5"/>
              </a:solidFill>
              <a:latin typeface="Georgia" panose="020405020504050203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67723D-26C1-EE2E-BCE7-96CD69BF0628}"/>
              </a:ext>
            </a:extLst>
          </p:cNvPr>
          <p:cNvSpPr/>
          <p:nvPr/>
        </p:nvSpPr>
        <p:spPr>
          <a:xfrm>
            <a:off x="640080" y="1874520"/>
            <a:ext cx="2487168" cy="2971800"/>
          </a:xfrm>
          <a:prstGeom prst="rect">
            <a:avLst/>
          </a:prstGeom>
          <a:solidFill>
            <a:srgbClr val="152A4A"/>
          </a:solidFill>
          <a:ln w="12700">
            <a:solidFill>
              <a:srgbClr val="F2C1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98403D-BC49-9DD5-D728-D1CC11868927}"/>
              </a:ext>
            </a:extLst>
          </p:cNvPr>
          <p:cNvSpPr/>
          <p:nvPr/>
        </p:nvSpPr>
        <p:spPr>
          <a:xfrm>
            <a:off x="640080" y="1874520"/>
            <a:ext cx="2487168" cy="100584"/>
          </a:xfrm>
          <a:prstGeom prst="rect">
            <a:avLst/>
          </a:prstGeom>
          <a:solidFill>
            <a:srgbClr val="F2C1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775BCE-7AB5-041A-189D-5322198C1EAB}"/>
              </a:ext>
            </a:extLst>
          </p:cNvPr>
          <p:cNvSpPr txBox="1"/>
          <p:nvPr/>
        </p:nvSpPr>
        <p:spPr>
          <a:xfrm>
            <a:off x="804672" y="2212848"/>
            <a:ext cx="2029968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F1F3F5"/>
                </a:solidFill>
                <a:latin typeface="Georgia" panose="02040502050405020303" pitchFamily="18" charset="0"/>
              </a:rPr>
              <a:t>Ye Wenjie</a:t>
            </a:r>
            <a:endParaRPr lang="zh-CN" altLang="en-US" sz="1500" b="1">
              <a:solidFill>
                <a:srgbClr val="F1F3F5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B3B030-9BC3-28E5-60A2-C2694686DFB4}"/>
              </a:ext>
            </a:extLst>
          </p:cNvPr>
          <p:cNvSpPr txBox="1"/>
          <p:nvPr/>
        </p:nvSpPr>
        <p:spPr>
          <a:xfrm>
            <a:off x="804672" y="2706624"/>
            <a:ext cx="201168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F2C14E"/>
                </a:solidFill>
                <a:latin typeface="Aptos" panose="020B0004020202020204" pitchFamily="34" charset="0"/>
              </a:rPr>
              <a:t>ORIGIN WOUND</a:t>
            </a:r>
            <a:endParaRPr lang="zh-CN" altLang="en-US" sz="800" b="1">
              <a:solidFill>
                <a:srgbClr val="F2C14E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132131-D347-E6B5-C2AD-25D190F30642}"/>
              </a:ext>
            </a:extLst>
          </p:cNvPr>
          <p:cNvSpPr txBox="1"/>
          <p:nvPr/>
        </p:nvSpPr>
        <p:spPr>
          <a:xfrm>
            <a:off x="804672" y="3154680"/>
            <a:ext cx="2057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E4E8EC"/>
                </a:solidFill>
                <a:latin typeface="Aptos" panose="020B0004020202020204" pitchFamily="34" charset="0"/>
              </a:rPr>
              <a:t>Founder, betrayer, witness. Not a simple Adventist.</a:t>
            </a:r>
            <a:endParaRPr lang="zh-CN" altLang="en-US" sz="1000">
              <a:solidFill>
                <a:srgbClr val="E4E8EC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9C0255-407B-22E3-E71B-5B1217E712D2}"/>
              </a:ext>
            </a:extLst>
          </p:cNvPr>
          <p:cNvSpPr/>
          <p:nvPr/>
        </p:nvSpPr>
        <p:spPr>
          <a:xfrm>
            <a:off x="3493008" y="1874520"/>
            <a:ext cx="2487168" cy="2971800"/>
          </a:xfrm>
          <a:prstGeom prst="rect">
            <a:avLst/>
          </a:prstGeom>
          <a:solidFill>
            <a:srgbClr val="152A4A"/>
          </a:solidFill>
          <a:ln w="12700">
            <a:solidFill>
              <a:srgbClr val="56CF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F1A492-1F62-8F73-780E-B3C6B1C27506}"/>
              </a:ext>
            </a:extLst>
          </p:cNvPr>
          <p:cNvSpPr/>
          <p:nvPr/>
        </p:nvSpPr>
        <p:spPr>
          <a:xfrm>
            <a:off x="3493008" y="1874520"/>
            <a:ext cx="2487168" cy="100584"/>
          </a:xfrm>
          <a:prstGeom prst="rect">
            <a:avLst/>
          </a:prstGeom>
          <a:solidFill>
            <a:srgbClr val="56CF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D727BB-03D5-7E14-8D9A-A71973F9EFE0}"/>
              </a:ext>
            </a:extLst>
          </p:cNvPr>
          <p:cNvSpPr txBox="1"/>
          <p:nvPr/>
        </p:nvSpPr>
        <p:spPr>
          <a:xfrm>
            <a:off x="3657600" y="2212848"/>
            <a:ext cx="2029968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F1F3F5"/>
                </a:solidFill>
                <a:latin typeface="Georgia" panose="02040502050405020303" pitchFamily="18" charset="0"/>
              </a:rPr>
              <a:t>Wang Miao</a:t>
            </a:r>
            <a:endParaRPr lang="zh-CN" altLang="en-US" sz="1500" b="1">
              <a:solidFill>
                <a:srgbClr val="F1F3F5"/>
              </a:solidFill>
              <a:latin typeface="Georgia" panose="02040502050405020303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C3C1B6-FEF2-A66C-CC18-7D5E15315490}"/>
              </a:ext>
            </a:extLst>
          </p:cNvPr>
          <p:cNvSpPr txBox="1"/>
          <p:nvPr/>
        </p:nvSpPr>
        <p:spPr>
          <a:xfrm>
            <a:off x="3657600" y="2706624"/>
            <a:ext cx="201168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56CFE1"/>
                </a:solidFill>
                <a:latin typeface="Aptos" panose="020B0004020202020204" pitchFamily="34" charset="0"/>
              </a:rPr>
              <a:t>EVIDENCE</a:t>
            </a:r>
            <a:endParaRPr lang="zh-CN" altLang="en-US" sz="800" b="1">
              <a:solidFill>
                <a:srgbClr val="56CFE1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A29A57-77DC-5B7A-B5F4-BEDB415C5720}"/>
              </a:ext>
            </a:extLst>
          </p:cNvPr>
          <p:cNvSpPr txBox="1"/>
          <p:nvPr/>
        </p:nvSpPr>
        <p:spPr>
          <a:xfrm>
            <a:off x="3657600" y="3154680"/>
            <a:ext cx="2057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E4E8EC"/>
                </a:solidFill>
                <a:latin typeface="Aptos" panose="020B0004020202020204" pitchFamily="34" charset="0"/>
              </a:rPr>
              <a:t>Frontier scientist. Fearful because normal life matters.</a:t>
            </a:r>
            <a:endParaRPr lang="zh-CN" altLang="en-US" sz="1000">
              <a:solidFill>
                <a:srgbClr val="E4E8EC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18ABE3-811F-517B-C468-3AD2D46698AD}"/>
              </a:ext>
            </a:extLst>
          </p:cNvPr>
          <p:cNvSpPr/>
          <p:nvPr/>
        </p:nvSpPr>
        <p:spPr>
          <a:xfrm>
            <a:off x="6345936" y="1874520"/>
            <a:ext cx="2487168" cy="2971800"/>
          </a:xfrm>
          <a:prstGeom prst="rect">
            <a:avLst/>
          </a:prstGeom>
          <a:solidFill>
            <a:srgbClr val="152A4A"/>
          </a:solidFill>
          <a:ln w="12700">
            <a:solidFill>
              <a:srgbClr val="7BD8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8E5A9F-453D-74B7-FE6B-CB8D60DBCA95}"/>
              </a:ext>
            </a:extLst>
          </p:cNvPr>
          <p:cNvSpPr/>
          <p:nvPr/>
        </p:nvSpPr>
        <p:spPr>
          <a:xfrm>
            <a:off x="6345936" y="1874520"/>
            <a:ext cx="2487168" cy="100584"/>
          </a:xfrm>
          <a:prstGeom prst="rect">
            <a:avLst/>
          </a:prstGeom>
          <a:solidFill>
            <a:srgbClr val="7BD88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0E24AB-EFF3-2299-E727-AE5EF61A7BF9}"/>
              </a:ext>
            </a:extLst>
          </p:cNvPr>
          <p:cNvSpPr txBox="1"/>
          <p:nvPr/>
        </p:nvSpPr>
        <p:spPr>
          <a:xfrm>
            <a:off x="6510528" y="2212848"/>
            <a:ext cx="2029968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F1F3F5"/>
                </a:solidFill>
                <a:latin typeface="Georgia" panose="02040502050405020303" pitchFamily="18" charset="0"/>
              </a:rPr>
              <a:t>Shi Qiang</a:t>
            </a:r>
            <a:endParaRPr lang="zh-CN" altLang="en-US" sz="1500" b="1">
              <a:solidFill>
                <a:srgbClr val="F1F3F5"/>
              </a:solidFill>
              <a:latin typeface="Georgia" panose="02040502050405020303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93DE02-2FBD-698D-6391-12D72D440A77}"/>
              </a:ext>
            </a:extLst>
          </p:cNvPr>
          <p:cNvSpPr txBox="1"/>
          <p:nvPr/>
        </p:nvSpPr>
        <p:spPr>
          <a:xfrm>
            <a:off x="6510528" y="2706624"/>
            <a:ext cx="201168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7BD88F"/>
                </a:solidFill>
                <a:latin typeface="Aptos" panose="020B0004020202020204" pitchFamily="34" charset="0"/>
              </a:rPr>
              <a:t>PROTECTION</a:t>
            </a:r>
            <a:endParaRPr lang="zh-CN" altLang="en-US" sz="800" b="1">
              <a:solidFill>
                <a:srgbClr val="7BD88F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99C394-0ED2-FC0C-9342-9078CFCBE4C9}"/>
              </a:ext>
            </a:extLst>
          </p:cNvPr>
          <p:cNvSpPr txBox="1"/>
          <p:nvPr/>
        </p:nvSpPr>
        <p:spPr>
          <a:xfrm>
            <a:off x="6510528" y="3154680"/>
            <a:ext cx="2057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E4E8EC"/>
                </a:solidFill>
                <a:latin typeface="Aptos" panose="020B0004020202020204" pitchFamily="34" charset="0"/>
              </a:rPr>
              <a:t>Frontier pragmatist. People first, theory later.</a:t>
            </a:r>
            <a:endParaRPr lang="zh-CN" altLang="en-US" sz="1000">
              <a:solidFill>
                <a:srgbClr val="E4E8EC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0CEF72-C2B0-70B8-D725-9A8A5E91CC9D}"/>
              </a:ext>
            </a:extLst>
          </p:cNvPr>
          <p:cNvSpPr/>
          <p:nvPr/>
        </p:nvSpPr>
        <p:spPr>
          <a:xfrm>
            <a:off x="9198864" y="1874520"/>
            <a:ext cx="2487168" cy="2971800"/>
          </a:xfrm>
          <a:prstGeom prst="rect">
            <a:avLst/>
          </a:prstGeom>
          <a:solidFill>
            <a:srgbClr val="152A4A"/>
          </a:solidFill>
          <a:ln w="12700">
            <a:solidFill>
              <a:srgbClr val="D96C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6E3EC2-BB9B-9A83-7A48-E6BEFD438DEB}"/>
              </a:ext>
            </a:extLst>
          </p:cNvPr>
          <p:cNvSpPr/>
          <p:nvPr/>
        </p:nvSpPr>
        <p:spPr>
          <a:xfrm>
            <a:off x="9198864" y="1874520"/>
            <a:ext cx="2487168" cy="100584"/>
          </a:xfrm>
          <a:prstGeom prst="rect">
            <a:avLst/>
          </a:prstGeom>
          <a:solidFill>
            <a:srgbClr val="D96C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D9DF3A-B333-1676-4B25-A64D65EF12B8}"/>
              </a:ext>
            </a:extLst>
          </p:cNvPr>
          <p:cNvSpPr txBox="1"/>
          <p:nvPr/>
        </p:nvSpPr>
        <p:spPr>
          <a:xfrm>
            <a:off x="9363456" y="2212848"/>
            <a:ext cx="2029968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F1F3F5"/>
                </a:solidFill>
                <a:latin typeface="Georgia" panose="02040502050405020303" pitchFamily="18" charset="0"/>
              </a:rPr>
              <a:t>Mike Evans</a:t>
            </a:r>
            <a:endParaRPr lang="zh-CN" altLang="en-US" sz="1500" b="1">
              <a:solidFill>
                <a:srgbClr val="F1F3F5"/>
              </a:solidFill>
              <a:latin typeface="Georgia" panose="02040502050405020303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0AD915-B8CA-B7DB-1B02-CFC9838FBAA7}"/>
              </a:ext>
            </a:extLst>
          </p:cNvPr>
          <p:cNvSpPr txBox="1"/>
          <p:nvPr/>
        </p:nvSpPr>
        <p:spPr>
          <a:xfrm>
            <a:off x="9363456" y="2706624"/>
            <a:ext cx="201168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D96C75"/>
                </a:solidFill>
                <a:latin typeface="Aptos" panose="020B0004020202020204" pitchFamily="34" charset="0"/>
              </a:rPr>
              <a:t>EXTINCTION</a:t>
            </a:r>
            <a:endParaRPr lang="zh-CN" altLang="en-US" sz="800" b="1">
              <a:solidFill>
                <a:srgbClr val="D96C75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9C7484-6B2A-A810-0921-4FE57EF9DBA7}"/>
              </a:ext>
            </a:extLst>
          </p:cNvPr>
          <p:cNvSpPr txBox="1"/>
          <p:nvPr/>
        </p:nvSpPr>
        <p:spPr>
          <a:xfrm>
            <a:off x="9363456" y="3154680"/>
            <a:ext cx="2057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E4E8EC"/>
                </a:solidFill>
                <a:latin typeface="Aptos" panose="020B0004020202020204" pitchFamily="34" charset="0"/>
              </a:rPr>
              <a:t>Hard Adventist. Pan-species ethics turns anti-human.</a:t>
            </a:r>
            <a:endParaRPr lang="zh-CN" altLang="en-US" sz="1000">
              <a:solidFill>
                <a:srgbClr val="E4E8E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463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826619-99EA-CFC2-4D9C-4279D440B1A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3B942-DEF0-19A2-4722-77B9F1210AE5}"/>
              </a:ext>
            </a:extLst>
          </p:cNvPr>
          <p:cNvSpPr txBox="1"/>
          <p:nvPr/>
        </p:nvSpPr>
        <p:spPr>
          <a:xfrm>
            <a:off x="502920" y="310896"/>
            <a:ext cx="566928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0A1F3D"/>
                </a:solidFill>
                <a:latin typeface="Aptos" panose="020B0004020202020204" pitchFamily="34" charset="0"/>
              </a:rPr>
              <a:t>TURN-BASED PERSONA</a:t>
            </a:r>
            <a:endParaRPr lang="zh-CN" altLang="en-US" sz="800">
              <a:solidFill>
                <a:srgbClr val="0A1F3D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70912-C4FC-6F14-6316-54E6E14802C6}"/>
              </a:ext>
            </a:extLst>
          </p:cNvPr>
          <p:cNvSpPr txBox="1"/>
          <p:nvPr/>
        </p:nvSpPr>
        <p:spPr>
          <a:xfrm>
            <a:off x="10652760" y="310896"/>
            <a:ext cx="100584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0A1F3D"/>
                </a:solidFill>
                <a:latin typeface="Aptos" panose="020B0004020202020204" pitchFamily="34" charset="0"/>
              </a:rPr>
              <a:t>06 / 08</a:t>
            </a:r>
            <a:endParaRPr lang="zh-CN" altLang="en-US" sz="800">
              <a:solidFill>
                <a:srgbClr val="0A1F3D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24C99E-7324-271E-924B-83451C3C17A9}"/>
              </a:ext>
            </a:extLst>
          </p:cNvPr>
          <p:cNvSpPr/>
          <p:nvPr/>
        </p:nvSpPr>
        <p:spPr>
          <a:xfrm>
            <a:off x="530352" y="6364224"/>
            <a:ext cx="1097280" cy="27432"/>
          </a:xfrm>
          <a:prstGeom prst="rect">
            <a:avLst/>
          </a:prstGeom>
          <a:solidFill>
            <a:srgbClr val="56CF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91EAEA-E552-B17E-EF6C-1249A2FFCA9D}"/>
              </a:ext>
            </a:extLst>
          </p:cNvPr>
          <p:cNvSpPr txBox="1"/>
          <p:nvPr/>
        </p:nvSpPr>
        <p:spPr>
          <a:xfrm>
            <a:off x="1783080" y="6236208"/>
            <a:ext cx="585216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0A1F3D"/>
                </a:solidFill>
                <a:latin typeface="Aptos" panose="020B0004020202020204" pitchFamily="34" charset="0"/>
              </a:rPr>
              <a:t>Ye Wenjie temporal arc</a:t>
            </a:r>
            <a:endParaRPr lang="zh-CN" altLang="en-US" sz="800">
              <a:solidFill>
                <a:srgbClr val="0A1F3D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DBFBE2-4D68-9E52-8A81-DEA47E30779B}"/>
              </a:ext>
            </a:extLst>
          </p:cNvPr>
          <p:cNvSpPr txBox="1"/>
          <p:nvPr/>
        </p:nvSpPr>
        <p:spPr>
          <a:xfrm>
            <a:off x="603504" y="841248"/>
            <a:ext cx="78638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800" b="1">
                <a:solidFill>
                  <a:srgbClr val="0A1F3D"/>
                </a:solidFill>
                <a:latin typeface="Georgia" panose="02040502050405020303" pitchFamily="18" charset="0"/>
              </a:rPr>
              <a:t>Ye Wenjie changes with turn pressure.</a:t>
            </a:r>
            <a:endParaRPr lang="zh-CN" altLang="en-US" sz="2800" b="1">
              <a:solidFill>
                <a:srgbClr val="0A1F3D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5B4647-D0F5-54D5-F4BB-40B59AE4D422}"/>
              </a:ext>
            </a:extLst>
          </p:cNvPr>
          <p:cNvSpPr txBox="1"/>
          <p:nvPr/>
        </p:nvSpPr>
        <p:spPr>
          <a:xfrm>
            <a:off x="640080" y="1408176"/>
            <a:ext cx="685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64748B"/>
                </a:solidFill>
                <a:latin typeface="Aptos" panose="020B0004020202020204" pitchFamily="34" charset="0"/>
              </a:rPr>
              <a:t>Her ideology is modeled as an arc, not a fixed faction label.</a:t>
            </a:r>
            <a:endParaRPr lang="zh-CN" altLang="en-US" sz="14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AC0C2A-C883-F323-44EC-47583428876E}"/>
              </a:ext>
            </a:extLst>
          </p:cNvPr>
          <p:cNvSpPr/>
          <p:nvPr/>
        </p:nvSpPr>
        <p:spPr>
          <a:xfrm>
            <a:off x="822960" y="2331720"/>
            <a:ext cx="658368" cy="658368"/>
          </a:xfrm>
          <a:prstGeom prst="ellipse">
            <a:avLst/>
          </a:prstGeom>
          <a:solidFill>
            <a:srgbClr val="0A1F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F7B873-6568-045C-F9EF-3C4100F4B1A2}"/>
              </a:ext>
            </a:extLst>
          </p:cNvPr>
          <p:cNvSpPr txBox="1"/>
          <p:nvPr/>
        </p:nvSpPr>
        <p:spPr>
          <a:xfrm>
            <a:off x="896112" y="2514600"/>
            <a:ext cx="50292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F1F3F5"/>
                </a:solidFill>
                <a:latin typeface="Aptos" panose="020B0004020202020204" pitchFamily="34" charset="0"/>
              </a:rPr>
              <a:t>0-4</a:t>
            </a:r>
            <a:endParaRPr lang="zh-CN" altLang="en-US" sz="900" b="1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4244D4-8423-088A-67D6-3ED44E94E6E7}"/>
              </a:ext>
            </a:extLst>
          </p:cNvPr>
          <p:cNvSpPr/>
          <p:nvPr/>
        </p:nvSpPr>
        <p:spPr>
          <a:xfrm>
            <a:off x="1536192" y="2642616"/>
            <a:ext cx="1874520" cy="32004"/>
          </a:xfrm>
          <a:prstGeom prst="rect">
            <a:avLst/>
          </a:prstGeom>
          <a:solidFill>
            <a:srgbClr val="64748B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B170AB-032D-E4F1-7762-AFD20F05412D}"/>
              </a:ext>
            </a:extLst>
          </p:cNvPr>
          <p:cNvSpPr txBox="1"/>
          <p:nvPr/>
        </p:nvSpPr>
        <p:spPr>
          <a:xfrm>
            <a:off x="685800" y="3246120"/>
            <a:ext cx="192024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0A1F3D"/>
                </a:solidFill>
                <a:latin typeface="Georgia" panose="02040502050405020303" pitchFamily="18" charset="0"/>
              </a:rPr>
              <a:t>Red Coast</a:t>
            </a:r>
            <a:endParaRPr lang="zh-CN" altLang="en-US" sz="1400" b="1">
              <a:solidFill>
                <a:srgbClr val="0A1F3D"/>
              </a:solidFill>
              <a:latin typeface="Georgia" panose="020405020504050203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7099B3-C084-05CC-D8BE-75D9CDE58BCF}"/>
              </a:ext>
            </a:extLst>
          </p:cNvPr>
          <p:cNvSpPr txBox="1"/>
          <p:nvPr/>
        </p:nvSpPr>
        <p:spPr>
          <a:xfrm>
            <a:off x="594360" y="3730752"/>
            <a:ext cx="2084832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Aptos" panose="020B0004020202020204" pitchFamily="34" charset="0"/>
              </a:rPr>
              <a:t>Judgment feels necessary.</a:t>
            </a:r>
            <a:endParaRPr lang="zh-CN" altLang="en-US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21B02C-B961-0CAD-8C59-25E4147A6E6B}"/>
              </a:ext>
            </a:extLst>
          </p:cNvPr>
          <p:cNvSpPr/>
          <p:nvPr/>
        </p:nvSpPr>
        <p:spPr>
          <a:xfrm>
            <a:off x="3566160" y="2331720"/>
            <a:ext cx="658368" cy="658368"/>
          </a:xfrm>
          <a:prstGeom prst="ellipse">
            <a:avLst/>
          </a:prstGeom>
          <a:solidFill>
            <a:srgbClr val="0A1F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52B667-9F62-FE24-CB2A-F785A770B45E}"/>
              </a:ext>
            </a:extLst>
          </p:cNvPr>
          <p:cNvSpPr txBox="1"/>
          <p:nvPr/>
        </p:nvSpPr>
        <p:spPr>
          <a:xfrm>
            <a:off x="3639312" y="2514600"/>
            <a:ext cx="50292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F1F3F5"/>
                </a:solidFill>
                <a:latin typeface="Aptos" panose="020B0004020202020204" pitchFamily="34" charset="0"/>
              </a:rPr>
              <a:t>5-9</a:t>
            </a:r>
            <a:endParaRPr lang="zh-CN" altLang="en-US" sz="900" b="1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43516E-10F1-065A-1CFA-A48329DDE4A7}"/>
              </a:ext>
            </a:extLst>
          </p:cNvPr>
          <p:cNvSpPr/>
          <p:nvPr/>
        </p:nvSpPr>
        <p:spPr>
          <a:xfrm>
            <a:off x="4279392" y="2642616"/>
            <a:ext cx="1874520" cy="32004"/>
          </a:xfrm>
          <a:prstGeom prst="rect">
            <a:avLst/>
          </a:prstGeom>
          <a:solidFill>
            <a:srgbClr val="64748B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FB8A12-5C9B-6462-33F8-F6DCD1010A87}"/>
              </a:ext>
            </a:extLst>
          </p:cNvPr>
          <p:cNvSpPr txBox="1"/>
          <p:nvPr/>
        </p:nvSpPr>
        <p:spPr>
          <a:xfrm>
            <a:off x="3429000" y="3246120"/>
            <a:ext cx="192024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0A1F3D"/>
                </a:solidFill>
                <a:latin typeface="Georgia" panose="02040502050405020303" pitchFamily="18" charset="0"/>
              </a:rPr>
              <a:t>Faction split</a:t>
            </a:r>
            <a:endParaRPr lang="zh-CN" altLang="en-US" sz="1400" b="1">
              <a:solidFill>
                <a:srgbClr val="0A1F3D"/>
              </a:solidFill>
              <a:latin typeface="Georgia" panose="02040502050405020303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620222-1C69-60C6-4DA9-7DE4EDD99B6F}"/>
              </a:ext>
            </a:extLst>
          </p:cNvPr>
          <p:cNvSpPr txBox="1"/>
          <p:nvPr/>
        </p:nvSpPr>
        <p:spPr>
          <a:xfrm>
            <a:off x="3337560" y="3730752"/>
            <a:ext cx="2084832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Aptos" panose="020B0004020202020204" pitchFamily="34" charset="0"/>
              </a:rPr>
              <a:t>She distances from Evans and worship.</a:t>
            </a:r>
            <a:endParaRPr lang="zh-CN" altLang="en-US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41D02D1-4FD9-0C9E-01E3-5DFE34C40315}"/>
              </a:ext>
            </a:extLst>
          </p:cNvPr>
          <p:cNvSpPr/>
          <p:nvPr/>
        </p:nvSpPr>
        <p:spPr>
          <a:xfrm>
            <a:off x="6309360" y="2331720"/>
            <a:ext cx="658368" cy="658368"/>
          </a:xfrm>
          <a:prstGeom prst="ellipse">
            <a:avLst/>
          </a:prstGeom>
          <a:solidFill>
            <a:srgbClr val="0A1F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79DC6F-34A2-3D15-05B5-2EE7A29EE072}"/>
              </a:ext>
            </a:extLst>
          </p:cNvPr>
          <p:cNvSpPr txBox="1"/>
          <p:nvPr/>
        </p:nvSpPr>
        <p:spPr>
          <a:xfrm>
            <a:off x="6382512" y="2514600"/>
            <a:ext cx="50292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F1F3F5"/>
                </a:solidFill>
                <a:latin typeface="Aptos" panose="020B0004020202020204" pitchFamily="34" charset="0"/>
              </a:rPr>
              <a:t>10-14</a:t>
            </a:r>
            <a:endParaRPr lang="zh-CN" altLang="en-US" sz="900" b="1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22F565-0245-9860-7E56-10836D2C7C3F}"/>
              </a:ext>
            </a:extLst>
          </p:cNvPr>
          <p:cNvSpPr/>
          <p:nvPr/>
        </p:nvSpPr>
        <p:spPr>
          <a:xfrm>
            <a:off x="7022592" y="2642616"/>
            <a:ext cx="1874521" cy="32004"/>
          </a:xfrm>
          <a:prstGeom prst="rect">
            <a:avLst/>
          </a:prstGeom>
          <a:solidFill>
            <a:srgbClr val="64748B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4F7F16-30A3-60A8-F730-D68CEF81EF87}"/>
              </a:ext>
            </a:extLst>
          </p:cNvPr>
          <p:cNvSpPr txBox="1"/>
          <p:nvPr/>
        </p:nvSpPr>
        <p:spPr>
          <a:xfrm>
            <a:off x="6172200" y="3246120"/>
            <a:ext cx="192024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0A1F3D"/>
                </a:solidFill>
                <a:latin typeface="Georgia" panose="02040502050405020303" pitchFamily="18" charset="0"/>
              </a:rPr>
              <a:t>Consequences</a:t>
            </a:r>
            <a:endParaRPr lang="zh-CN" altLang="en-US" sz="1400" b="1">
              <a:solidFill>
                <a:srgbClr val="0A1F3D"/>
              </a:solidFill>
              <a:latin typeface="Georgia" panose="02040502050405020303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4EA6DC-319D-1D65-A70D-45E58339EB18}"/>
              </a:ext>
            </a:extLst>
          </p:cNvPr>
          <p:cNvSpPr txBox="1"/>
          <p:nvPr/>
        </p:nvSpPr>
        <p:spPr>
          <a:xfrm>
            <a:off x="6080760" y="3730752"/>
            <a:ext cx="2084832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Aptos" panose="020B0004020202020204" pitchFamily="34" charset="0"/>
              </a:rPr>
              <a:t>Yang Dong, Wang, and ETO violence weigh in.</a:t>
            </a:r>
            <a:endParaRPr lang="zh-CN" altLang="en-US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B781644-F5A0-D9FD-E2AE-2BC96A96DC23}"/>
              </a:ext>
            </a:extLst>
          </p:cNvPr>
          <p:cNvSpPr/>
          <p:nvPr/>
        </p:nvSpPr>
        <p:spPr>
          <a:xfrm>
            <a:off x="9052560" y="2331720"/>
            <a:ext cx="658368" cy="658368"/>
          </a:xfrm>
          <a:prstGeom prst="ellipse">
            <a:avLst/>
          </a:prstGeom>
          <a:solidFill>
            <a:srgbClr val="0A1F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A6FF1D-DC63-A86E-1359-E03ACA24DBCF}"/>
              </a:ext>
            </a:extLst>
          </p:cNvPr>
          <p:cNvSpPr txBox="1"/>
          <p:nvPr/>
        </p:nvSpPr>
        <p:spPr>
          <a:xfrm>
            <a:off x="9125712" y="2514600"/>
            <a:ext cx="50292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F1F3F5"/>
                </a:solidFill>
                <a:latin typeface="Aptos" panose="020B0004020202020204" pitchFamily="34" charset="0"/>
              </a:rPr>
              <a:t>15+</a:t>
            </a:r>
            <a:endParaRPr lang="zh-CN" altLang="en-US" sz="900" b="1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CCFAF0-935D-4DF0-A6F3-1F3C1EAD6B43}"/>
              </a:ext>
            </a:extLst>
          </p:cNvPr>
          <p:cNvSpPr txBox="1"/>
          <p:nvPr/>
        </p:nvSpPr>
        <p:spPr>
          <a:xfrm>
            <a:off x="8915400" y="3246120"/>
            <a:ext cx="192024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0A1F3D"/>
                </a:solidFill>
                <a:latin typeface="Georgia" panose="02040502050405020303" pitchFamily="18" charset="0"/>
              </a:rPr>
              <a:t>Witness</a:t>
            </a:r>
            <a:endParaRPr lang="zh-CN" altLang="en-US" sz="1400" b="1">
              <a:solidFill>
                <a:srgbClr val="0A1F3D"/>
              </a:solidFill>
              <a:latin typeface="Georgia" panose="02040502050405020303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930FD3-BF38-45F9-660B-0C486035D4AB}"/>
              </a:ext>
            </a:extLst>
          </p:cNvPr>
          <p:cNvSpPr txBox="1"/>
          <p:nvPr/>
        </p:nvSpPr>
        <p:spPr>
          <a:xfrm>
            <a:off x="8823960" y="3730752"/>
            <a:ext cx="2084832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64748B"/>
                </a:solidFill>
                <a:latin typeface="Aptos" panose="020B0004020202020204" pitchFamily="34" charset="0"/>
              </a:rPr>
              <a:t>Regret becomes names, diagrams, confession.</a:t>
            </a:r>
            <a:endParaRPr lang="zh-CN" altLang="en-US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378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3A2550-DC14-4BE7-FC99-96FBD05D4B6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AA34B-60EF-CE2F-A885-41662C619E34}"/>
              </a:ext>
            </a:extLst>
          </p:cNvPr>
          <p:cNvSpPr txBox="1"/>
          <p:nvPr/>
        </p:nvSpPr>
        <p:spPr>
          <a:xfrm>
            <a:off x="502920" y="310896"/>
            <a:ext cx="566928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F1F3F5"/>
                </a:solidFill>
                <a:latin typeface="Aptos" panose="020B0004020202020204" pitchFamily="34" charset="0"/>
              </a:rPr>
              <a:t>NARRATIVE RULES</a:t>
            </a:r>
            <a:endParaRPr lang="zh-CN" altLang="en-US" sz="800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BECA6A-BDE1-5AF5-D867-34531538670E}"/>
              </a:ext>
            </a:extLst>
          </p:cNvPr>
          <p:cNvSpPr txBox="1"/>
          <p:nvPr/>
        </p:nvSpPr>
        <p:spPr>
          <a:xfrm>
            <a:off x="10652760" y="310896"/>
            <a:ext cx="100584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F1F3F5"/>
                </a:solidFill>
                <a:latin typeface="Aptos" panose="020B0004020202020204" pitchFamily="34" charset="0"/>
              </a:rPr>
              <a:t>07 / 08</a:t>
            </a:r>
            <a:endParaRPr lang="zh-CN" altLang="en-US" sz="800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5B3168-ED9D-6112-1B9C-AA9AB0425CEC}"/>
              </a:ext>
            </a:extLst>
          </p:cNvPr>
          <p:cNvSpPr/>
          <p:nvPr/>
        </p:nvSpPr>
        <p:spPr>
          <a:xfrm>
            <a:off x="530352" y="6364224"/>
            <a:ext cx="1097280" cy="27432"/>
          </a:xfrm>
          <a:prstGeom prst="rect">
            <a:avLst/>
          </a:prstGeom>
          <a:solidFill>
            <a:srgbClr val="56CF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103182-9612-0EF4-447A-973F825EB50D}"/>
              </a:ext>
            </a:extLst>
          </p:cNvPr>
          <p:cNvSpPr txBox="1"/>
          <p:nvPr/>
        </p:nvSpPr>
        <p:spPr>
          <a:xfrm>
            <a:off x="1783080" y="6236208"/>
            <a:ext cx="585216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F1F3F5"/>
                </a:solidFill>
                <a:latin typeface="Aptos" panose="020B0004020202020204" pitchFamily="34" charset="0"/>
              </a:rPr>
              <a:t>Design guardrails</a:t>
            </a:r>
            <a:endParaRPr lang="zh-CN" altLang="en-US" sz="800">
              <a:solidFill>
                <a:srgbClr val="F1F3F5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A8A81E-1B86-7EA9-1FD1-141D9E0B8F49}"/>
              </a:ext>
            </a:extLst>
          </p:cNvPr>
          <p:cNvSpPr txBox="1"/>
          <p:nvPr/>
        </p:nvSpPr>
        <p:spPr>
          <a:xfrm>
            <a:off x="603504" y="841248"/>
            <a:ext cx="786384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800" b="1">
                <a:solidFill>
                  <a:srgbClr val="F1F3F5"/>
                </a:solidFill>
                <a:latin typeface="Georgia" panose="02040502050405020303" pitchFamily="18" charset="0"/>
              </a:rPr>
              <a:t>The world, not a character, controls escalation.</a:t>
            </a:r>
            <a:endParaRPr lang="zh-CN" altLang="en-US" sz="2800" b="1">
              <a:solidFill>
                <a:srgbClr val="F1F3F5"/>
              </a:solidFill>
              <a:latin typeface="Georgia" panose="020405020504050203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358779-C8A9-A565-DCCF-A212B9390088}"/>
              </a:ext>
            </a:extLst>
          </p:cNvPr>
          <p:cNvSpPr/>
          <p:nvPr/>
        </p:nvSpPr>
        <p:spPr>
          <a:xfrm>
            <a:off x="713232" y="1874520"/>
            <a:ext cx="3154680" cy="987552"/>
          </a:xfrm>
          <a:prstGeom prst="rect">
            <a:avLst/>
          </a:prstGeom>
          <a:solidFill>
            <a:srgbClr val="152A4A"/>
          </a:solidFill>
          <a:ln w="12700">
            <a:solidFill>
              <a:srgbClr val="56CF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BA7C95-3949-F946-F111-165A08B30923}"/>
              </a:ext>
            </a:extLst>
          </p:cNvPr>
          <p:cNvSpPr/>
          <p:nvPr/>
        </p:nvSpPr>
        <p:spPr>
          <a:xfrm>
            <a:off x="713232" y="1874520"/>
            <a:ext cx="73152" cy="987552"/>
          </a:xfrm>
          <a:prstGeom prst="rect">
            <a:avLst/>
          </a:prstGeom>
          <a:solidFill>
            <a:srgbClr val="56CF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D32BE6-32AA-3AC7-FA9D-B13DB9C9509B}"/>
              </a:ext>
            </a:extLst>
          </p:cNvPr>
          <p:cNvSpPr txBox="1"/>
          <p:nvPr/>
        </p:nvSpPr>
        <p:spPr>
          <a:xfrm>
            <a:off x="932688" y="2039112"/>
            <a:ext cx="277063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F1F3F5"/>
                </a:solidFill>
                <a:latin typeface="Aptos Display" panose="020B0004020202020204" pitchFamily="34" charset="0"/>
              </a:rPr>
              <a:t>Shared memory</a:t>
            </a:r>
            <a:endParaRPr lang="zh-CN" altLang="en-US" sz="1500" b="1">
              <a:solidFill>
                <a:srgbClr val="F1F3F5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DA33F0-0CD0-A033-188F-41FB88C69080}"/>
              </a:ext>
            </a:extLst>
          </p:cNvPr>
          <p:cNvSpPr txBox="1"/>
          <p:nvPr/>
        </p:nvSpPr>
        <p:spPr>
          <a:xfrm>
            <a:off x="932688" y="2496312"/>
            <a:ext cx="277063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50">
                <a:solidFill>
                  <a:srgbClr val="E4E8EC"/>
                </a:solidFill>
                <a:latin typeface="Aptos" panose="020B0004020202020204" pitchFamily="34" charset="0"/>
              </a:rPr>
              <a:t>All agents know the player's broad record.</a:t>
            </a:r>
            <a:endParaRPr lang="zh-CN" altLang="en-US" sz="950">
              <a:solidFill>
                <a:srgbClr val="E4E8EC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DF363B-F398-887D-198B-322AF69ADED9}"/>
              </a:ext>
            </a:extLst>
          </p:cNvPr>
          <p:cNvSpPr/>
          <p:nvPr/>
        </p:nvSpPr>
        <p:spPr>
          <a:xfrm>
            <a:off x="4480560" y="1874520"/>
            <a:ext cx="3154679" cy="987552"/>
          </a:xfrm>
          <a:prstGeom prst="rect">
            <a:avLst/>
          </a:prstGeom>
          <a:solidFill>
            <a:srgbClr val="152A4A"/>
          </a:solidFill>
          <a:ln w="12700">
            <a:solidFill>
              <a:srgbClr val="F2C1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6F3F02-1607-0E27-4472-EF1E34A99692}"/>
              </a:ext>
            </a:extLst>
          </p:cNvPr>
          <p:cNvSpPr/>
          <p:nvPr/>
        </p:nvSpPr>
        <p:spPr>
          <a:xfrm>
            <a:off x="4480560" y="1874520"/>
            <a:ext cx="73152" cy="987552"/>
          </a:xfrm>
          <a:prstGeom prst="rect">
            <a:avLst/>
          </a:prstGeom>
          <a:solidFill>
            <a:srgbClr val="F2C1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7085FA-6B1A-ECD5-3EDD-3C5E0D13C9A3}"/>
              </a:ext>
            </a:extLst>
          </p:cNvPr>
          <p:cNvSpPr txBox="1"/>
          <p:nvPr/>
        </p:nvSpPr>
        <p:spPr>
          <a:xfrm>
            <a:off x="4700016" y="2039112"/>
            <a:ext cx="277063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F1F3F5"/>
                </a:solidFill>
                <a:latin typeface="Aptos Display" panose="020B0004020202020204" pitchFamily="34" charset="0"/>
              </a:rPr>
              <a:t>Forced timeline</a:t>
            </a:r>
            <a:endParaRPr lang="zh-CN" altLang="en-US" sz="1500" b="1">
              <a:solidFill>
                <a:srgbClr val="F1F3F5"/>
              </a:solidFill>
              <a:latin typeface="Aptos Display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8D6CEB-84BE-E95C-1FFD-B987AFD6D250}"/>
              </a:ext>
            </a:extLst>
          </p:cNvPr>
          <p:cNvSpPr txBox="1"/>
          <p:nvPr/>
        </p:nvSpPr>
        <p:spPr>
          <a:xfrm>
            <a:off x="4700016" y="2496312"/>
            <a:ext cx="277063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50">
                <a:solidFill>
                  <a:srgbClr val="E4E8EC"/>
                </a:solidFill>
                <a:latin typeface="Aptos" panose="020B0004020202020204" pitchFamily="34" charset="0"/>
              </a:rPr>
              <a:t>Every ten turns, the World Book advances.</a:t>
            </a:r>
            <a:endParaRPr lang="zh-CN" altLang="en-US" sz="950">
              <a:solidFill>
                <a:srgbClr val="E4E8EC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1442E9-F63B-42DE-E93A-40B596B9957E}"/>
              </a:ext>
            </a:extLst>
          </p:cNvPr>
          <p:cNvSpPr/>
          <p:nvPr/>
        </p:nvSpPr>
        <p:spPr>
          <a:xfrm>
            <a:off x="8247888" y="1874520"/>
            <a:ext cx="3154680" cy="987552"/>
          </a:xfrm>
          <a:prstGeom prst="rect">
            <a:avLst/>
          </a:prstGeom>
          <a:solidFill>
            <a:srgbClr val="152A4A"/>
          </a:solidFill>
          <a:ln w="12700">
            <a:solidFill>
              <a:srgbClr val="D96C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AAB1A8-B25E-1791-B498-01350766993D}"/>
              </a:ext>
            </a:extLst>
          </p:cNvPr>
          <p:cNvSpPr/>
          <p:nvPr/>
        </p:nvSpPr>
        <p:spPr>
          <a:xfrm>
            <a:off x="8247888" y="1874520"/>
            <a:ext cx="73152" cy="987552"/>
          </a:xfrm>
          <a:prstGeom prst="rect">
            <a:avLst/>
          </a:prstGeom>
          <a:solidFill>
            <a:srgbClr val="D96C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407D3D-D5BF-7767-B916-13D6C5703080}"/>
              </a:ext>
            </a:extLst>
          </p:cNvPr>
          <p:cNvSpPr txBox="1"/>
          <p:nvPr/>
        </p:nvSpPr>
        <p:spPr>
          <a:xfrm>
            <a:off x="8467344" y="2039112"/>
            <a:ext cx="277063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F1F3F5"/>
                </a:solidFill>
                <a:latin typeface="Aptos Display" panose="020B0004020202020204" pitchFamily="34" charset="0"/>
              </a:rPr>
              <a:t>No pop-up events</a:t>
            </a:r>
            <a:endParaRPr lang="zh-CN" altLang="en-US" sz="1500" b="1">
              <a:solidFill>
                <a:srgbClr val="F1F3F5"/>
              </a:solidFill>
              <a:latin typeface="Aptos Display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46A9E8-27CB-D00C-6CFB-A48E5BF644C8}"/>
              </a:ext>
            </a:extLst>
          </p:cNvPr>
          <p:cNvSpPr txBox="1"/>
          <p:nvPr/>
        </p:nvSpPr>
        <p:spPr>
          <a:xfrm>
            <a:off x="8467344" y="2496312"/>
            <a:ext cx="277063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50">
                <a:solidFill>
                  <a:srgbClr val="E4E8EC"/>
                </a:solidFill>
                <a:latin typeface="Aptos" panose="020B0004020202020204" pitchFamily="34" charset="0"/>
              </a:rPr>
              <a:t>Characters cannot trigger scene or guest events.</a:t>
            </a:r>
            <a:endParaRPr lang="zh-CN" altLang="en-US" sz="950">
              <a:solidFill>
                <a:srgbClr val="E4E8EC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E06F34-8ABE-4A42-A42A-A96535C9317B}"/>
              </a:ext>
            </a:extLst>
          </p:cNvPr>
          <p:cNvSpPr/>
          <p:nvPr/>
        </p:nvSpPr>
        <p:spPr>
          <a:xfrm>
            <a:off x="713232" y="3291840"/>
            <a:ext cx="3154680" cy="987552"/>
          </a:xfrm>
          <a:prstGeom prst="rect">
            <a:avLst/>
          </a:prstGeom>
          <a:solidFill>
            <a:srgbClr val="152A4A"/>
          </a:solidFill>
          <a:ln w="12700">
            <a:solidFill>
              <a:srgbClr val="7BD8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5FFF98-6655-E18D-08CE-E621C45DBE55}"/>
              </a:ext>
            </a:extLst>
          </p:cNvPr>
          <p:cNvSpPr/>
          <p:nvPr/>
        </p:nvSpPr>
        <p:spPr>
          <a:xfrm>
            <a:off x="713232" y="3291840"/>
            <a:ext cx="73152" cy="987552"/>
          </a:xfrm>
          <a:prstGeom prst="rect">
            <a:avLst/>
          </a:prstGeom>
          <a:solidFill>
            <a:srgbClr val="7BD88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8F8A8D-B438-C1A7-76F5-62BD439C8C37}"/>
              </a:ext>
            </a:extLst>
          </p:cNvPr>
          <p:cNvSpPr txBox="1"/>
          <p:nvPr/>
        </p:nvSpPr>
        <p:spPr>
          <a:xfrm>
            <a:off x="932688" y="3456432"/>
            <a:ext cx="277063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F1F3F5"/>
                </a:solidFill>
                <a:latin typeface="Aptos Display" panose="020B0004020202020204" pitchFamily="34" charset="0"/>
              </a:rPr>
              <a:t>Auto compact</a:t>
            </a:r>
            <a:endParaRPr lang="zh-CN" altLang="en-US" sz="1500" b="1">
              <a:solidFill>
                <a:srgbClr val="F1F3F5"/>
              </a:solidFill>
              <a:latin typeface="Aptos Display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654862-699B-5FD4-4AF7-BEF965A089F9}"/>
              </a:ext>
            </a:extLst>
          </p:cNvPr>
          <p:cNvSpPr txBox="1"/>
          <p:nvPr/>
        </p:nvSpPr>
        <p:spPr>
          <a:xfrm>
            <a:off x="932688" y="3913632"/>
            <a:ext cx="2770632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50">
                <a:solidFill>
                  <a:srgbClr val="E4E8EC"/>
                </a:solidFill>
                <a:latin typeface="Aptos" panose="020B0004020202020204" pitchFamily="34" charset="0"/>
              </a:rPr>
              <a:t>Every five turns, context compresses without counting as a turn.</a:t>
            </a:r>
            <a:endParaRPr lang="zh-CN" altLang="en-US" sz="950">
              <a:solidFill>
                <a:srgbClr val="E4E8EC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7562BA-6769-5643-D461-B88BAAA8236C}"/>
              </a:ext>
            </a:extLst>
          </p:cNvPr>
          <p:cNvSpPr/>
          <p:nvPr/>
        </p:nvSpPr>
        <p:spPr>
          <a:xfrm>
            <a:off x="4480560" y="3291840"/>
            <a:ext cx="3154679" cy="987552"/>
          </a:xfrm>
          <a:prstGeom prst="rect">
            <a:avLst/>
          </a:prstGeom>
          <a:solidFill>
            <a:srgbClr val="152A4A"/>
          </a:solidFill>
          <a:ln w="12700">
            <a:solidFill>
              <a:srgbClr val="56CF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BBD530-4D98-8A2F-0D8A-CCF1D7C83EBA}"/>
              </a:ext>
            </a:extLst>
          </p:cNvPr>
          <p:cNvSpPr/>
          <p:nvPr/>
        </p:nvSpPr>
        <p:spPr>
          <a:xfrm>
            <a:off x="4480560" y="3291840"/>
            <a:ext cx="73152" cy="987552"/>
          </a:xfrm>
          <a:prstGeom prst="rect">
            <a:avLst/>
          </a:prstGeom>
          <a:solidFill>
            <a:srgbClr val="56CF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880AED-ABBF-3243-A0A6-85219D497E65}"/>
              </a:ext>
            </a:extLst>
          </p:cNvPr>
          <p:cNvSpPr txBox="1"/>
          <p:nvPr/>
        </p:nvSpPr>
        <p:spPr>
          <a:xfrm>
            <a:off x="4700016" y="3456432"/>
            <a:ext cx="277063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F1F3F5"/>
                </a:solidFill>
                <a:latin typeface="Aptos Display" panose="020B0004020202020204" pitchFamily="34" charset="0"/>
              </a:rPr>
              <a:t>Ending gate</a:t>
            </a:r>
            <a:endParaRPr lang="zh-CN" altLang="en-US" sz="1500" b="1">
              <a:solidFill>
                <a:srgbClr val="F1F3F5"/>
              </a:solidFill>
              <a:latin typeface="Aptos Display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9D1D97-29BD-E1D3-8CF8-276FCA3D0A24}"/>
              </a:ext>
            </a:extLst>
          </p:cNvPr>
          <p:cNvSpPr txBox="1"/>
          <p:nvPr/>
        </p:nvSpPr>
        <p:spPr>
          <a:xfrm>
            <a:off x="4700016" y="3913632"/>
            <a:ext cx="277063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50">
                <a:solidFill>
                  <a:srgbClr val="E4E8EC"/>
                </a:solidFill>
                <a:latin typeface="Aptos" panose="020B0004020202020204" pitchFamily="34" charset="0"/>
              </a:rPr>
              <a:t>Checks begin after turn six with axis threshold seven.</a:t>
            </a:r>
            <a:endParaRPr lang="zh-CN" altLang="en-US" sz="950">
              <a:solidFill>
                <a:srgbClr val="E4E8EC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C1168C-D6DF-C8C1-8F55-0B08355A6A94}"/>
              </a:ext>
            </a:extLst>
          </p:cNvPr>
          <p:cNvSpPr/>
          <p:nvPr/>
        </p:nvSpPr>
        <p:spPr>
          <a:xfrm>
            <a:off x="8247888" y="3291840"/>
            <a:ext cx="3154680" cy="987552"/>
          </a:xfrm>
          <a:prstGeom prst="rect">
            <a:avLst/>
          </a:prstGeom>
          <a:solidFill>
            <a:srgbClr val="152A4A"/>
          </a:solidFill>
          <a:ln w="12700">
            <a:solidFill>
              <a:srgbClr val="F2C1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DD0720-6CB8-695E-5F06-100805D2E5EC}"/>
              </a:ext>
            </a:extLst>
          </p:cNvPr>
          <p:cNvSpPr/>
          <p:nvPr/>
        </p:nvSpPr>
        <p:spPr>
          <a:xfrm>
            <a:off x="8247888" y="3291840"/>
            <a:ext cx="73152" cy="987552"/>
          </a:xfrm>
          <a:prstGeom prst="rect">
            <a:avLst/>
          </a:prstGeom>
          <a:solidFill>
            <a:srgbClr val="F2C1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16EF3F-E430-60FB-D47D-A2AE24445012}"/>
              </a:ext>
            </a:extLst>
          </p:cNvPr>
          <p:cNvSpPr txBox="1"/>
          <p:nvPr/>
        </p:nvSpPr>
        <p:spPr>
          <a:xfrm>
            <a:off x="8467344" y="3456432"/>
            <a:ext cx="277063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F1F3F5"/>
                </a:solidFill>
                <a:latin typeface="Aptos Display" panose="020B0004020202020204" pitchFamily="34" charset="0"/>
              </a:rPr>
              <a:t>Rewind</a:t>
            </a:r>
            <a:endParaRPr lang="zh-CN" altLang="en-US" sz="1500" b="1">
              <a:solidFill>
                <a:srgbClr val="F1F3F5"/>
              </a:solidFill>
              <a:latin typeface="Aptos Display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2D00CE-0A5A-13A3-1118-977D535951EC}"/>
              </a:ext>
            </a:extLst>
          </p:cNvPr>
          <p:cNvSpPr txBox="1"/>
          <p:nvPr/>
        </p:nvSpPr>
        <p:spPr>
          <a:xfrm>
            <a:off x="8467344" y="3913632"/>
            <a:ext cx="277063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50">
                <a:solidFill>
                  <a:srgbClr val="E4E8EC"/>
                </a:solidFill>
                <a:latin typeface="Aptos" panose="020B0004020202020204" pitchFamily="34" charset="0"/>
              </a:rPr>
              <a:t>Decision snapshots keep branches replayable.</a:t>
            </a:r>
            <a:endParaRPr lang="zh-CN" altLang="en-US" sz="950">
              <a:solidFill>
                <a:srgbClr val="E4E8E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291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CE2CD0-4313-2AAA-8938-1AE7DFF5EFA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2A3A1D-3080-85D0-5301-C020F6275C2B}"/>
              </a:ext>
            </a:extLst>
          </p:cNvPr>
          <p:cNvSpPr txBox="1"/>
          <p:nvPr/>
        </p:nvSpPr>
        <p:spPr>
          <a:xfrm>
            <a:off x="502920" y="310896"/>
            <a:ext cx="566928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0A1F3D"/>
                </a:solidFill>
                <a:latin typeface="Aptos" panose="020B0004020202020204" pitchFamily="34" charset="0"/>
              </a:rPr>
              <a:t>VIDEO DEMO</a:t>
            </a:r>
            <a:endParaRPr lang="zh-CN" altLang="en-US" sz="800">
              <a:solidFill>
                <a:srgbClr val="0A1F3D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ED4517-C54C-26A4-A68F-7D10A05BE192}"/>
              </a:ext>
            </a:extLst>
          </p:cNvPr>
          <p:cNvSpPr txBox="1"/>
          <p:nvPr/>
        </p:nvSpPr>
        <p:spPr>
          <a:xfrm>
            <a:off x="10652760" y="310896"/>
            <a:ext cx="100584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800">
                <a:solidFill>
                  <a:srgbClr val="0A1F3D"/>
                </a:solidFill>
                <a:latin typeface="Aptos" panose="020B0004020202020204" pitchFamily="34" charset="0"/>
              </a:rPr>
              <a:t>08 / 08</a:t>
            </a:r>
            <a:endParaRPr lang="zh-CN" altLang="en-US" sz="800">
              <a:solidFill>
                <a:srgbClr val="0A1F3D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9CD5EA-576D-6ED6-506F-58DD11D0185D}"/>
              </a:ext>
            </a:extLst>
          </p:cNvPr>
          <p:cNvSpPr/>
          <p:nvPr/>
        </p:nvSpPr>
        <p:spPr>
          <a:xfrm>
            <a:off x="530352" y="6364224"/>
            <a:ext cx="1097280" cy="27432"/>
          </a:xfrm>
          <a:prstGeom prst="rect">
            <a:avLst/>
          </a:prstGeom>
          <a:solidFill>
            <a:srgbClr val="56CF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D34663-6E65-8327-48B0-6A26CB62F454}"/>
              </a:ext>
            </a:extLst>
          </p:cNvPr>
          <p:cNvSpPr txBox="1"/>
          <p:nvPr/>
        </p:nvSpPr>
        <p:spPr>
          <a:xfrm>
            <a:off x="1783080" y="6236208"/>
            <a:ext cx="585216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0A1F3D"/>
                </a:solidFill>
                <a:latin typeface="Aptos" panose="020B0004020202020204" pitchFamily="34" charset="0"/>
              </a:rPr>
              <a:t>Demo videos and takeaway</a:t>
            </a:r>
            <a:endParaRPr lang="zh-CN" altLang="en-US" sz="800">
              <a:solidFill>
                <a:srgbClr val="0A1F3D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4663D-C646-B202-A275-86550E7BECCC}"/>
              </a:ext>
            </a:extLst>
          </p:cNvPr>
          <p:cNvSpPr txBox="1"/>
          <p:nvPr/>
        </p:nvSpPr>
        <p:spPr>
          <a:xfrm>
            <a:off x="603504" y="841248"/>
            <a:ext cx="804672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0A1F3D"/>
                </a:solidFill>
                <a:latin typeface="Georgia" panose="02040502050405020303" pitchFamily="18" charset="0"/>
              </a:rPr>
              <a:t>Demo: endings as ideological consequences.</a:t>
            </a:r>
            <a:endParaRPr lang="zh-CN" altLang="en-US" sz="2700" b="1">
              <a:solidFill>
                <a:srgbClr val="0A1F3D"/>
              </a:solidFill>
              <a:latin typeface="Georgia" panose="020405020504050203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11EDD8-0D6A-2B2C-EB65-D81846E003B5}"/>
              </a:ext>
            </a:extLst>
          </p:cNvPr>
          <p:cNvSpPr/>
          <p:nvPr/>
        </p:nvSpPr>
        <p:spPr>
          <a:xfrm>
            <a:off x="749808" y="1828800"/>
            <a:ext cx="5166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6CF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A1D4B2-45C3-0790-3116-28021F862386}"/>
              </a:ext>
            </a:extLst>
          </p:cNvPr>
          <p:cNvSpPr/>
          <p:nvPr/>
        </p:nvSpPr>
        <p:spPr>
          <a:xfrm>
            <a:off x="749808" y="1828800"/>
            <a:ext cx="73152" cy="1417320"/>
          </a:xfrm>
          <a:prstGeom prst="rect">
            <a:avLst/>
          </a:prstGeom>
          <a:solidFill>
            <a:srgbClr val="56CF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E4A44-B2D9-DC33-0705-02DA59F12200}"/>
              </a:ext>
            </a:extLst>
          </p:cNvPr>
          <p:cNvSpPr txBox="1"/>
          <p:nvPr/>
        </p:nvSpPr>
        <p:spPr>
          <a:xfrm>
            <a:off x="969264" y="1993392"/>
            <a:ext cx="478231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11827"/>
                </a:solidFill>
                <a:latin typeface="Aptos Display" panose="020B0004020202020204" pitchFamily="34" charset="0"/>
              </a:rPr>
              <a:t>Walkthrough</a:t>
            </a:r>
            <a:endParaRPr lang="zh-CN" altLang="en-US" sz="1500" b="1">
              <a:solidFill>
                <a:srgbClr val="111827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EC3718-D6FC-C6DD-2736-E74D16F9AB5A}"/>
              </a:ext>
            </a:extLst>
          </p:cNvPr>
          <p:cNvSpPr txBox="1"/>
          <p:nvPr/>
        </p:nvSpPr>
        <p:spPr>
          <a:xfrm>
            <a:off x="969264" y="2450592"/>
            <a:ext cx="478231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50">
                <a:solidFill>
                  <a:srgbClr val="64748B"/>
                </a:solidFill>
                <a:latin typeface="Aptos" panose="020B0004020202020204" pitchFamily="34" charset="0"/>
              </a:rPr>
              <a:t>One possible endgame path from interview to resolution.</a:t>
            </a:r>
            <a:endParaRPr lang="zh-CN" altLang="en-US" sz="95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hlinkClick r:id="rId2"/>
            <a:extLst>
              <a:ext uri="{FF2B5EF4-FFF2-40B4-BE49-F238E27FC236}">
                <a16:creationId xmlns:a16="http://schemas.microsoft.com/office/drawing/2014/main" id="{9DD2EA29-DF67-B1BA-E3FF-D322F37B5BBD}"/>
              </a:ext>
            </a:extLst>
          </p:cNvPr>
          <p:cNvSpPr txBox="1"/>
          <p:nvPr/>
        </p:nvSpPr>
        <p:spPr>
          <a:xfrm>
            <a:off x="987552" y="2788920"/>
            <a:ext cx="438912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 u="sng">
                <a:solidFill>
                  <a:srgbClr val="0A1F3D"/>
                </a:solidFill>
                <a:latin typeface="Aptos" panose="020B0004020202020204" pitchFamily="34" charset="0"/>
              </a:rPr>
              <a:t>Open video: youtu.be/oRf81m0zX6M</a:t>
            </a:r>
            <a:endParaRPr lang="zh-CN" altLang="en-US" sz="1100" b="1" u="sng">
              <a:solidFill>
                <a:srgbClr val="0A1F3D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2A8DA6-0FB8-4F74-6171-0D8201FA95E6}"/>
              </a:ext>
            </a:extLst>
          </p:cNvPr>
          <p:cNvSpPr/>
          <p:nvPr/>
        </p:nvSpPr>
        <p:spPr>
          <a:xfrm>
            <a:off x="6309360" y="1828800"/>
            <a:ext cx="5166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6C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4B96ED-C236-110E-C813-04263DFDF8D1}"/>
              </a:ext>
            </a:extLst>
          </p:cNvPr>
          <p:cNvSpPr/>
          <p:nvPr/>
        </p:nvSpPr>
        <p:spPr>
          <a:xfrm>
            <a:off x="6309360" y="1828800"/>
            <a:ext cx="73152" cy="1417320"/>
          </a:xfrm>
          <a:prstGeom prst="rect">
            <a:avLst/>
          </a:prstGeom>
          <a:solidFill>
            <a:srgbClr val="D96C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71D999-7CF6-A6A4-AAB3-9D54AA350590}"/>
              </a:ext>
            </a:extLst>
          </p:cNvPr>
          <p:cNvSpPr txBox="1"/>
          <p:nvPr/>
        </p:nvSpPr>
        <p:spPr>
          <a:xfrm>
            <a:off x="6528816" y="1993392"/>
            <a:ext cx="4782312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11827"/>
                </a:solidFill>
                <a:latin typeface="Aptos Display" panose="020B0004020202020204" pitchFamily="34" charset="0"/>
              </a:rPr>
              <a:t>Endgame range</a:t>
            </a:r>
            <a:endParaRPr lang="zh-CN" altLang="en-US" sz="1500" b="1">
              <a:solidFill>
                <a:srgbClr val="111827"/>
              </a:solidFill>
              <a:latin typeface="Aptos Display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CDA8AF-A4EB-7C5F-54CF-49218CFB4B63}"/>
              </a:ext>
            </a:extLst>
          </p:cNvPr>
          <p:cNvSpPr txBox="1"/>
          <p:nvPr/>
        </p:nvSpPr>
        <p:spPr>
          <a:xfrm>
            <a:off x="6528816" y="2450592"/>
            <a:ext cx="4782312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50">
                <a:solidFill>
                  <a:srgbClr val="64748B"/>
                </a:solidFill>
                <a:latin typeface="Aptos" panose="020B0004020202020204" pitchFamily="34" charset="0"/>
              </a:rPr>
              <a:t>A survey of different endings from different alignments.</a:t>
            </a:r>
            <a:endParaRPr lang="zh-CN" altLang="en-US" sz="95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hlinkClick r:id="rId3"/>
            <a:extLst>
              <a:ext uri="{FF2B5EF4-FFF2-40B4-BE49-F238E27FC236}">
                <a16:creationId xmlns:a16="http://schemas.microsoft.com/office/drawing/2014/main" id="{5AA33DFA-0F2A-6CFE-62FD-13D43323B32C}"/>
              </a:ext>
            </a:extLst>
          </p:cNvPr>
          <p:cNvSpPr txBox="1"/>
          <p:nvPr/>
        </p:nvSpPr>
        <p:spPr>
          <a:xfrm>
            <a:off x="6547104" y="2788920"/>
            <a:ext cx="443484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 u="sng">
                <a:solidFill>
                  <a:srgbClr val="0A1F3D"/>
                </a:solidFill>
                <a:latin typeface="Aptos" panose="020B0004020202020204" pitchFamily="34" charset="0"/>
              </a:rPr>
              <a:t>Open video: youtu.be/wHOtb31VOGM</a:t>
            </a:r>
            <a:endParaRPr lang="zh-CN" altLang="en-US" sz="1100" b="1" u="sng">
              <a:solidFill>
                <a:srgbClr val="0A1F3D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4E5E9D-E7F1-3611-0A6F-B70281EF5C11}"/>
              </a:ext>
            </a:extLst>
          </p:cNvPr>
          <p:cNvSpPr/>
          <p:nvPr/>
        </p:nvSpPr>
        <p:spPr>
          <a:xfrm>
            <a:off x="1005840" y="4160520"/>
            <a:ext cx="10149840" cy="32004"/>
          </a:xfrm>
          <a:prstGeom prst="rect">
            <a:avLst/>
          </a:prstGeom>
          <a:solidFill>
            <a:srgbClr val="0A1F3D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16B540-76D5-49AB-B9B5-47AF8DFCC60D}"/>
              </a:ext>
            </a:extLst>
          </p:cNvPr>
          <p:cNvSpPr txBox="1"/>
          <p:nvPr/>
        </p:nvSpPr>
        <p:spPr>
          <a:xfrm>
            <a:off x="960120" y="4462272"/>
            <a:ext cx="987552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200" b="1">
                <a:solidFill>
                  <a:srgbClr val="0A1F3D"/>
                </a:solidFill>
                <a:latin typeface="Georgia" panose="02040502050405020303" pitchFamily="18" charset="0"/>
              </a:rPr>
              <a:t>Goal: stop the destruction of the human world.</a:t>
            </a:r>
            <a:endParaRPr lang="zh-CN" altLang="en-US" sz="2200" b="1">
              <a:solidFill>
                <a:srgbClr val="0A1F3D"/>
              </a:solidFill>
              <a:latin typeface="Georgia" panose="02040502050405020303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749551-64A6-A78A-2BB8-2F0A708B2B72}"/>
              </a:ext>
            </a:extLst>
          </p:cNvPr>
          <p:cNvSpPr txBox="1"/>
          <p:nvPr/>
        </p:nvSpPr>
        <p:spPr>
          <a:xfrm>
            <a:off x="1828800" y="5029200"/>
            <a:ext cx="8229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400">
                <a:solidFill>
                  <a:srgbClr val="64748B"/>
                </a:solidFill>
                <a:latin typeface="Aptos" panose="020B0004020202020204" pitchFamily="34" charset="0"/>
              </a:rPr>
              <a:t>The system makes that hard by making every belief travel across memory, time, and character ideology.</a:t>
            </a:r>
            <a:endParaRPr lang="zh-CN" altLang="en-US" sz="14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337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</Words>
  <Application>Microsoft Office PowerPoint</Application>
  <PresentationFormat>Widescreen</PresentationFormat>
  <Paragraphs>113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等线</vt:lpstr>
      <vt:lpstr>等线 Light</vt:lpstr>
      <vt:lpstr>Aptos</vt:lpstr>
      <vt:lpstr>Aptos Display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Chupeng Wei</dc:creator>
  <cp:lastModifiedBy>Chupeng Wei</cp:lastModifiedBy>
  <cp:revision>2</cp:revision>
  <dcterms:created xsi:type="dcterms:W3CDTF">2026-05-27T19:48:13Z</dcterms:created>
  <dcterms:modified xsi:type="dcterms:W3CDTF">2026-05-28T03:07:46Z</dcterms:modified>
</cp:coreProperties>
</file>